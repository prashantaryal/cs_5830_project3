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Our project asks a question every soccer fan argues about: when a team scores a ton of goals, is that skill, or did they just get lucky? We used 13 seasons of Premier League data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definition first: xG, or expected goals, is how many goals a team should have scored based on the quality of its chances. So if a team scores way more than its xG, it's either really good at finishing or it got lucky. Our test is simple: luck shouldn't repeat next season, but skill should. This matters because clubs spend millions after one good season, and fans and analysts want to know if a streak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pulled every Premier League game from football-data.co.uk: the score, shots, and shots on target. The first problem was that the site doesn't have real xG. So we made our own: across the league, about 32% of shots on target go in, so each shot on target counts as 0.32 expected goals. We started at 2013-14 because that's when the site changed how it counts shots on target. That gave us 13 seasons and 4,940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team in one season. On the left, chance difference vs points. On the right, goal difference vs points. Chances alone explain 80% of where a team finishes. Actual goals explain 93%, so that extra 13% is the part where finishing, or luck, comes in. This matters because it means you can mostly judge a team by the chances it creates.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result surprised us. Man City in 2013-14 scored 102 goals when their chances were only worth 76. Norwich that same year scored 28 from 47. The grey bars show the range we got by reshuffling each team's games 10,000 times, and none of them cross zero, so these gaps aren't just luck. Overall, about 15% of team-seasons were off by more than luck would explain, when you'd expect only about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knows home teams win more. We wanted to know why. It can be explained by chances: home teams create about a quarter of a goal more xG per match. But once they get those chances, they don't finish any better than away teams. So home advantage is about getting more shots, not shooting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test. Each dot is a team: how much it beat its xG this season, and how much it beat it next season. If it were all luck, this would be a random cloud. If it were all skill, the dots would sit on a diagonal line. It's in between: about a third carries over, so there's some skill, but most of a big gap fades. Part of that third is just good teams like Man City being good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If you're a club or a scout, the chances a team creates are the best guess for how it'll do next year. If a team scored way more than its xG, expect most of that to disappear, so don't pay big money for one hot season. And if a team was unlucky, it'll probably bounce back. One limit: we didn't have real xG, so ours is based on shots on target only. With real shot-by-shot xG we'd expect sharper results. Thanks,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37081"/>
            <a:ext cx="10566400" cy="40081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37081"/>
            <a:ext cx="10566400" cy="40081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669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E8A33D"/>
                </a:solidFill>
                <a:latin typeface="Public Sans" pitchFamily="34" charset="0"/>
                <a:ea typeface="Public Sans" pitchFamily="34" charset="-122"/>
                <a:cs typeface="Public Sans" pitchFamily="34" charset="-120"/>
              </a:rPr>
              <a:t>CS 5830 · PROJECT 3</a:t>
            </a:r>
            <a:endParaRPr lang="en-US" sz="1600" dirty="0"/>
          </a:p>
        </p:txBody>
      </p:sp>
      <p:sp>
        <p:nvSpPr>
          <p:cNvPr id="3" name="Text 1"/>
          <p:cNvSpPr/>
          <p:nvPr>
            <p:ph type="title"/>
          </p:nvPr>
        </p:nvSpPr>
        <p:spPr>
          <a:xfrm>
            <a:off x="812800" y="240538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6F4EE"/>
                </a:solidFill>
                <a:latin typeface="Oswald" pitchFamily="34" charset="0"/>
                <a:ea typeface="Oswald" pitchFamily="34" charset="-122"/>
                <a:cs typeface="Oswald" pitchFamily="34" charset="-120"/>
              </a:rPr>
              <a:t>Luck or Skill?</a:t>
            </a:r>
            <a:endParaRPr lang="en-US" sz="8000" dirty="0"/>
          </a:p>
        </p:txBody>
      </p:sp>
      <p:sp>
        <p:nvSpPr>
          <p:cNvPr id="4" name="Text 2"/>
          <p:cNvSpPr/>
          <p:nvPr/>
        </p:nvSpPr>
        <p:spPr>
          <a:xfrm>
            <a:off x="812800" y="372618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Public Sans" pitchFamily="34" charset="0"/>
                <a:ea typeface="Public Sans" pitchFamily="34" charset="-122"/>
                <a:cs typeface="Public Sans" pitchFamily="34" charset="-120"/>
              </a:rPr>
              <a:t>Do Premier League teams really earn their goals, or do they just get lucky?</a:t>
            </a:r>
            <a:endParaRPr lang="en-US" sz="2200" dirty="0"/>
          </a:p>
        </p:txBody>
      </p:sp>
      <p:sp>
        <p:nvSpPr>
          <p:cNvPr id="5" name="Text 3"/>
          <p:cNvSpPr/>
          <p:nvPr/>
        </p:nvSpPr>
        <p:spPr>
          <a:xfrm>
            <a:off x="812800" y="47066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Public Sans" pitchFamily="34" charset="0"/>
                <a:ea typeface="Public Sans" pitchFamily="34" charset="-122"/>
                <a:cs typeface="Public Sans" pitchFamily="34" charset="-120"/>
              </a:rPr>
              <a:t>[Team member names]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4F0F"/>
                </a:solidFill>
                <a:latin typeface="Public Sans" pitchFamily="34" charset="0"/>
                <a:ea typeface="Public Sans" pitchFamily="34" charset="-122"/>
                <a:cs typeface="Public Sans" pitchFamily="34" charset="-120"/>
              </a:rPr>
              <a:t>THE QUESTION</a:t>
            </a:r>
            <a:endParaRPr lang="en-US" sz="1200" dirty="0"/>
          </a:p>
        </p:txBody>
      </p:sp>
      <p:sp>
        <p:nvSpPr>
          <p:cNvPr id="3" name="Text 1"/>
          <p:cNvSpPr/>
          <p:nvPr>
            <p:ph type="title"/>
          </p:nvPr>
        </p:nvSpPr>
        <p:spPr>
          <a:xfrm>
            <a:off x="812800" y="13309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If a team beats its xG, is it skill or luck?</a:t>
            </a:r>
            <a:endParaRPr lang="en-US" sz="3600" dirty="0"/>
          </a:p>
        </p:txBody>
      </p:sp>
      <p:sp>
        <p:nvSpPr>
          <p:cNvPr id="4" name="Text 2"/>
          <p:cNvSpPr/>
          <p:nvPr/>
        </p:nvSpPr>
        <p:spPr>
          <a:xfrm>
            <a:off x="812800" y="2138680"/>
            <a:ext cx="9810750" cy="75184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4213D"/>
                </a:solidFill>
                <a:latin typeface="Public Sans" pitchFamily="34" charset="0"/>
                <a:ea typeface="Public Sans" pitchFamily="34" charset="-122"/>
                <a:cs typeface="Public Sans" pitchFamily="34" charset="-120"/>
              </a:rPr>
              <a:t>xG (expected goals)</a:t>
            </a:r>
            <a:r>
              <a:rPr lang="en-US" sz="2200" dirty="0">
                <a:solidFill>
                  <a:srgbClr val="4A5568"/>
                </a:solidFill>
                <a:latin typeface="Public Sans" pitchFamily="34" charset="0"/>
                <a:ea typeface="Public Sans" pitchFamily="34" charset="-122"/>
                <a:cs typeface="Public Sans" pitchFamily="34" charset="-120"/>
              </a:rPr>
              <a:t> = how many goals a team </a:t>
            </a:r>
            <a:r>
              <a:rPr lang="en-US" sz="2200" i="1" dirty="0">
                <a:solidFill>
                  <a:srgbClr val="4A5568"/>
                </a:solidFill>
                <a:latin typeface="Public Sans" pitchFamily="34" charset="0"/>
                <a:ea typeface="Public Sans" pitchFamily="34" charset="-122"/>
                <a:cs typeface="Public Sans" pitchFamily="34" charset="-120"/>
              </a:rPr>
              <a:t>should</a:t>
            </a:r>
            <a:r>
              <a:rPr lang="en-US" sz="2200" dirty="0">
                <a:solidFill>
                  <a:srgbClr val="4A5568"/>
                </a:solidFill>
                <a:latin typeface="Public Sans" pitchFamily="34" charset="0"/>
                <a:ea typeface="Public Sans" pitchFamily="34" charset="-122"/>
                <a:cs typeface="Public Sans" pitchFamily="34" charset="-120"/>
              </a:rPr>
              <a:t> have scored from its chances. Luck shouldn't repeat next season. Skill should.</a:t>
            </a:r>
            <a:endParaRPr lang="en-US" sz="2200" dirty="0"/>
          </a:p>
        </p:txBody>
      </p:sp>
      <p:sp>
        <p:nvSpPr>
          <p:cNvPr id="5" name="Shape 3"/>
          <p:cNvSpPr/>
          <p:nvPr/>
        </p:nvSpPr>
        <p:spPr>
          <a:xfrm>
            <a:off x="815975" y="4509135"/>
            <a:ext cx="3380264" cy="1329690"/>
          </a:xfrm>
          <a:prstGeom prst="roundRect">
            <a:avLst>
              <a:gd name="adj" fmla="val 7402"/>
            </a:avLst>
          </a:prstGeom>
          <a:solidFill>
            <a:srgbClr val="FBFBF8"/>
          </a:solidFill>
          <a:ln w="6350">
            <a:solidFill>
              <a:srgbClr val="DED9CC"/>
            </a:solidFill>
            <a:prstDash val="solid"/>
          </a:ln>
        </p:spPr>
      </p:sp>
      <p:sp>
        <p:nvSpPr>
          <p:cNvPr id="6" name="Text 4"/>
          <p:cNvSpPr/>
          <p:nvPr/>
        </p:nvSpPr>
        <p:spPr>
          <a:xfrm>
            <a:off x="1071880" y="476504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Clubs &amp; scouts</a:t>
            </a:r>
            <a:endParaRPr lang="en-US" sz="1600" dirty="0"/>
          </a:p>
        </p:txBody>
      </p:sp>
      <p:sp>
        <p:nvSpPr>
          <p:cNvPr id="7" name="Text 5"/>
          <p:cNvSpPr/>
          <p:nvPr/>
        </p:nvSpPr>
        <p:spPr>
          <a:xfrm>
            <a:off x="1071880" y="508508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Don't pay big money for one lucky season.</a:t>
            </a:r>
            <a:endParaRPr lang="en-US" sz="1400" dirty="0"/>
          </a:p>
        </p:txBody>
      </p:sp>
      <p:sp>
        <p:nvSpPr>
          <p:cNvPr id="8" name="Shape 6"/>
          <p:cNvSpPr/>
          <p:nvPr/>
        </p:nvSpPr>
        <p:spPr>
          <a:xfrm>
            <a:off x="4405789" y="4509135"/>
            <a:ext cx="3380343" cy="1329690"/>
          </a:xfrm>
          <a:prstGeom prst="roundRect">
            <a:avLst>
              <a:gd name="adj" fmla="val 7402"/>
            </a:avLst>
          </a:prstGeom>
          <a:solidFill>
            <a:srgbClr val="FBFBF8"/>
          </a:solidFill>
          <a:ln w="6350">
            <a:solidFill>
              <a:srgbClr val="DED9CC"/>
            </a:solidFill>
            <a:prstDash val="solid"/>
          </a:ln>
        </p:spPr>
      </p:sp>
      <p:sp>
        <p:nvSpPr>
          <p:cNvPr id="9" name="Text 7"/>
          <p:cNvSpPr/>
          <p:nvPr/>
        </p:nvSpPr>
        <p:spPr>
          <a:xfrm>
            <a:off x="4661694" y="476504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Fans &amp; pundits</a:t>
            </a:r>
            <a:endParaRPr lang="en-US" sz="1600" dirty="0"/>
          </a:p>
        </p:txBody>
      </p:sp>
      <p:sp>
        <p:nvSpPr>
          <p:cNvPr id="10" name="Text 8"/>
          <p:cNvSpPr/>
          <p:nvPr/>
        </p:nvSpPr>
        <p:spPr>
          <a:xfrm>
            <a:off x="4661694" y="50850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Know if your team's hot streak will last.</a:t>
            </a:r>
            <a:endParaRPr lang="en-US" sz="1400" dirty="0"/>
          </a:p>
        </p:txBody>
      </p:sp>
      <p:sp>
        <p:nvSpPr>
          <p:cNvPr id="11" name="Shape 9"/>
          <p:cNvSpPr/>
          <p:nvPr/>
        </p:nvSpPr>
        <p:spPr>
          <a:xfrm>
            <a:off x="7995682" y="4509135"/>
            <a:ext cx="3380343" cy="1329690"/>
          </a:xfrm>
          <a:prstGeom prst="roundRect">
            <a:avLst>
              <a:gd name="adj" fmla="val 7402"/>
            </a:avLst>
          </a:prstGeom>
          <a:solidFill>
            <a:srgbClr val="FBFBF8"/>
          </a:solidFill>
          <a:ln w="6350">
            <a:solidFill>
              <a:srgbClr val="DED9CC"/>
            </a:solidFill>
            <a:prstDash val="solid"/>
          </a:ln>
        </p:spPr>
      </p:sp>
      <p:sp>
        <p:nvSpPr>
          <p:cNvPr id="12" name="Text 10"/>
          <p:cNvSpPr/>
          <p:nvPr/>
        </p:nvSpPr>
        <p:spPr>
          <a:xfrm>
            <a:off x="8251587" y="476504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Analysts</a:t>
            </a:r>
            <a:endParaRPr lang="en-US" sz="1600" dirty="0"/>
          </a:p>
        </p:txBody>
      </p:sp>
      <p:sp>
        <p:nvSpPr>
          <p:cNvPr id="13" name="Text 11"/>
          <p:cNvSpPr/>
          <p:nvPr/>
        </p:nvSpPr>
        <p:spPr>
          <a:xfrm>
            <a:off x="8251587" y="50850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Pick better numbers to predict results.</a:t>
            </a:r>
            <a:endParaRPr lang="en-US" sz="1400" dirty="0"/>
          </a:p>
        </p:txBody>
      </p:sp>
      <p:sp>
        <p:nvSpPr>
          <p:cNvPr id="14" name="Text 12"/>
          <p:cNvSpPr/>
          <p:nvPr/>
        </p:nvSpPr>
        <p:spPr>
          <a:xfrm>
            <a:off x="812800" y="6238241"/>
            <a:ext cx="1416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4F0F"/>
                </a:solidFill>
                <a:latin typeface="Public Sans" pitchFamily="34" charset="0"/>
                <a:ea typeface="Public Sans" pitchFamily="34" charset="-122"/>
                <a:cs typeface="Public Sans" pitchFamily="34" charset="-120"/>
              </a:rPr>
              <a:t>THE DATA</a:t>
            </a:r>
            <a:endParaRPr lang="en-US" sz="1200" dirty="0"/>
          </a:p>
        </p:txBody>
      </p:sp>
      <p:sp>
        <p:nvSpPr>
          <p:cNvPr id="3" name="Text 1"/>
          <p:cNvSpPr/>
          <p:nvPr>
            <p:ph type="title"/>
          </p:nvPr>
        </p:nvSpPr>
        <p:spPr>
          <a:xfrm>
            <a:off x="812800" y="1330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Every Premier League game since 2013-14</a:t>
            </a:r>
            <a:endParaRPr lang="en-US" sz="3600" dirty="0"/>
          </a:p>
        </p:txBody>
      </p:sp>
      <p:sp>
        <p:nvSpPr>
          <p:cNvPr id="4" name="Text 2"/>
          <p:cNvSpPr/>
          <p:nvPr/>
        </p:nvSpPr>
        <p:spPr>
          <a:xfrm>
            <a:off x="812800" y="2138680"/>
            <a:ext cx="3488212"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13</a:t>
            </a:r>
            <a:endParaRPr lang="en-US" sz="6000" dirty="0"/>
          </a:p>
        </p:txBody>
      </p:sp>
      <p:sp>
        <p:nvSpPr>
          <p:cNvPr id="5" name="Text 3"/>
          <p:cNvSpPr/>
          <p:nvPr/>
        </p:nvSpPr>
        <p:spPr>
          <a:xfrm>
            <a:off x="812800" y="3027680"/>
            <a:ext cx="34882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seasons</a:t>
            </a:r>
            <a:endParaRPr lang="en-US" sz="1600" dirty="0"/>
          </a:p>
        </p:txBody>
      </p:sp>
      <p:sp>
        <p:nvSpPr>
          <p:cNvPr id="6" name="Text 4"/>
          <p:cNvSpPr/>
          <p:nvPr/>
        </p:nvSpPr>
        <p:spPr>
          <a:xfrm>
            <a:off x="4402614" y="2138680"/>
            <a:ext cx="348829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4,940</a:t>
            </a:r>
            <a:endParaRPr lang="en-US" sz="6000" dirty="0"/>
          </a:p>
        </p:txBody>
      </p:sp>
      <p:sp>
        <p:nvSpPr>
          <p:cNvPr id="7" name="Text 5"/>
          <p:cNvSpPr/>
          <p:nvPr/>
        </p:nvSpPr>
        <p:spPr>
          <a:xfrm>
            <a:off x="4402614" y="3027680"/>
            <a:ext cx="348829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games</a:t>
            </a:r>
            <a:endParaRPr lang="en-US" sz="1600" dirty="0"/>
          </a:p>
        </p:txBody>
      </p:sp>
      <p:sp>
        <p:nvSpPr>
          <p:cNvPr id="8" name="Text 6"/>
          <p:cNvSpPr/>
          <p:nvPr/>
        </p:nvSpPr>
        <p:spPr>
          <a:xfrm>
            <a:off x="7992507" y="2138680"/>
            <a:ext cx="348829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0.32</a:t>
            </a:r>
            <a:endParaRPr lang="en-US" sz="6000" dirty="0"/>
          </a:p>
        </p:txBody>
      </p:sp>
      <p:sp>
        <p:nvSpPr>
          <p:cNvPr id="9" name="Text 7"/>
          <p:cNvSpPr/>
          <p:nvPr/>
        </p:nvSpPr>
        <p:spPr>
          <a:xfrm>
            <a:off x="7992507" y="3027680"/>
            <a:ext cx="348829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goals per shot on target</a:t>
            </a:r>
            <a:endParaRPr lang="en-US" sz="1600" dirty="0"/>
          </a:p>
        </p:txBody>
      </p:sp>
      <p:sp>
        <p:nvSpPr>
          <p:cNvPr id="10" name="Text 8"/>
          <p:cNvSpPr/>
          <p:nvPr/>
        </p:nvSpPr>
        <p:spPr>
          <a:xfrm>
            <a:off x="812800" y="4866641"/>
            <a:ext cx="10566400" cy="975360"/>
          </a:xfrm>
          <a:prstGeom prst="roundRect">
            <a:avLst>
              <a:gd name="adj" fmla="val 5208"/>
            </a:avLst>
          </a:prstGeom>
          <a:solidFill>
            <a:srgbClr val="FBFBF8"/>
          </a:solidFill>
          <a:ln/>
        </p:spPr>
        <p:txBody>
          <a:bodyPr wrap="square" lIns="289921" tIns="188321" rIns="0" bIns="162921"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This didn't make sense at first: the site had </a:t>
            </a:r>
            <a:r>
              <a:rPr lang="en-US" sz="1600" b="1" dirty="0">
                <a:solidFill>
                  <a:srgbClr val="14213D"/>
                </a:solidFill>
                <a:latin typeface="Public Sans" pitchFamily="34" charset="0"/>
                <a:ea typeface="Public Sans" pitchFamily="34" charset="-122"/>
                <a:cs typeface="Public Sans" pitchFamily="34" charset="-120"/>
              </a:rPr>
              <a:t>no real xG</a:t>
            </a:r>
            <a:r>
              <a:rPr lang="en-US" sz="1600" dirty="0">
                <a:solidFill>
                  <a:srgbClr val="4A5568"/>
                </a:solidFill>
                <a:latin typeface="Public Sans" pitchFamily="34" charset="0"/>
                <a:ea typeface="Public Sans" pitchFamily="34" charset="-122"/>
                <a:cs typeface="Public Sans" pitchFamily="34" charset="-120"/>
              </a:rPr>
              <a:t>. So we built our own, where every shot on target is worth 0.32 goals.</a:t>
            </a:r>
            <a:endParaRPr lang="en-US" sz="1600" dirty="0"/>
          </a:p>
        </p:txBody>
      </p:sp>
      <p:sp>
        <p:nvSpPr>
          <p:cNvPr id="11" name="Shape 9"/>
          <p:cNvSpPr/>
          <p:nvPr/>
        </p:nvSpPr>
        <p:spPr>
          <a:xfrm>
            <a:off x="812800" y="4866641"/>
            <a:ext cx="10566400" cy="975360"/>
          </a:xfrm>
          <a:custGeom>
            <a:avLst/>
            <a:gdLst/>
            <a:ahLst/>
            <a:cxnLst/>
            <a:rect l="l" t="t" r="r" b="b"/>
            <a:pathLst>
              <a:path w="10566400" h="975360">
                <a:moveTo>
                  <a:pt x="50800" y="975360"/>
                </a:moveTo>
                <a:lnTo>
                  <a:pt x="50800" y="975360"/>
                </a:lnTo>
                <a:arcTo hR="50800" wR="50800" stAng="5400000" swAng="5400000"/>
                <a:lnTo>
                  <a:pt x="0" y="50800"/>
                </a:lnTo>
                <a:arcTo hR="50800" wR="50800" stAng="10800000" swAng="5400000"/>
                <a:lnTo>
                  <a:pt x="50800" y="0"/>
                </a:lnTo>
                <a:lnTo>
                  <a:pt x="50800" y="975360"/>
                </a:lnTo>
                <a:close/>
              </a:path>
            </a:pathLst>
          </a:custGeom>
          <a:solidFill>
            <a:srgbClr val="E8A33D"/>
          </a:solidFill>
          <a:ln/>
        </p:spPr>
      </p:sp>
      <p:sp>
        <p:nvSpPr>
          <p:cNvPr id="12" name="Text 10"/>
          <p:cNvSpPr/>
          <p:nvPr/>
        </p:nvSpPr>
        <p:spPr>
          <a:xfrm>
            <a:off x="812800" y="6238241"/>
            <a:ext cx="25363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3 · Source: football-data.co.uk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4F0F"/>
                </a:solidFill>
                <a:latin typeface="Public Sans" pitchFamily="34" charset="0"/>
                <a:ea typeface="Public Sans" pitchFamily="34" charset="-122"/>
                <a:cs typeface="Public Sans" pitchFamily="34" charset="-120"/>
              </a:rPr>
              <a:t>FINDING 1</a:t>
            </a:r>
            <a:endParaRPr lang="en-US" sz="1200" dirty="0"/>
          </a:p>
        </p:txBody>
      </p:sp>
      <p:sp>
        <p:nvSpPr>
          <p:cNvPr id="3" name="Text 1"/>
          <p:cNvSpPr/>
          <p:nvPr>
            <p:ph type="title"/>
          </p:nvPr>
        </p:nvSpPr>
        <p:spPr>
          <a:xfrm>
            <a:off x="812800" y="1229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Chances decide most of the table</a:t>
            </a:r>
            <a:endParaRPr lang="en-US" sz="3600" dirty="0"/>
          </a:p>
        </p:txBody>
      </p:sp>
      <p:sp>
        <p:nvSpPr>
          <p:cNvPr id="4" name="Shape 2"/>
          <p:cNvSpPr/>
          <p:nvPr/>
        </p:nvSpPr>
        <p:spPr>
          <a:xfrm>
            <a:off x="812800" y="2498091"/>
            <a:ext cx="6731000" cy="2781300"/>
          </a:xfrm>
          <a:prstGeom prst="roundRect">
            <a:avLst>
              <a:gd name="adj" fmla="val 2740"/>
            </a:avLst>
          </a:prstGeom>
          <a:solidFill>
            <a:srgbClr val="FFFFFF"/>
          </a:solidFill>
          <a:ln/>
        </p:spPr>
      </p:sp>
      <p:pic>
        <p:nvPicPr>
          <p:cNvPr id="5" name="Image 0" descr="Scatter plots: season points vs xG difference (R2 0.80) and vs goal difference (R2 0.93)">    </p:cNvPr>
          <p:cNvPicPr>
            <a:picLocks noChangeAspect="1"/>
          </p:cNvPicPr>
          <p:nvPr/>
        </p:nvPicPr>
        <p:blipFill>
          <a:blip r:embed="rId1"/>
          <a:srcRect l="-72" r="-72" t="0" b="0"/>
          <a:stretch/>
        </p:blipFill>
        <p:spPr>
          <a:xfrm>
            <a:off x="812800" y="2498091"/>
            <a:ext cx="6731000" cy="2781300"/>
          </a:xfrm>
          <a:prstGeom prst="roundRect">
            <a:avLst>
              <a:gd name="adj" fmla="val 2740"/>
            </a:avLst>
          </a:prstGeom>
        </p:spPr>
      </p:pic>
      <p:sp>
        <p:nvSpPr>
          <p:cNvPr id="6" name="Text 3"/>
          <p:cNvSpPr/>
          <p:nvPr/>
        </p:nvSpPr>
        <p:spPr>
          <a:xfrm>
            <a:off x="7950200" y="2860041"/>
            <a:ext cx="353187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80%</a:t>
            </a:r>
            <a:endParaRPr lang="en-US" sz="6000" dirty="0"/>
          </a:p>
        </p:txBody>
      </p:sp>
      <p:sp>
        <p:nvSpPr>
          <p:cNvPr id="7" name="Text 4"/>
          <p:cNvSpPr/>
          <p:nvPr/>
        </p:nvSpPr>
        <p:spPr>
          <a:xfrm>
            <a:off x="7950200" y="3774441"/>
            <a:ext cx="353187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of a team's points are explained by the chances it creates and allows.</a:t>
            </a:r>
            <a:endParaRPr lang="en-US" sz="1600" dirty="0"/>
          </a:p>
        </p:txBody>
      </p:sp>
      <p:sp>
        <p:nvSpPr>
          <p:cNvPr id="8" name="Text 5"/>
          <p:cNvSpPr/>
          <p:nvPr/>
        </p:nvSpPr>
        <p:spPr>
          <a:xfrm>
            <a:off x="7950200" y="4419600"/>
            <a:ext cx="353187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Actual goals explain 93%, so finishing still matters a little.</a:t>
            </a:r>
            <a:endParaRPr lang="en-US" sz="1400" dirty="0"/>
          </a:p>
        </p:txBody>
      </p:sp>
      <p:sp>
        <p:nvSpPr>
          <p:cNvPr id="9" name="Text 6"/>
          <p:cNvSpPr/>
          <p:nvPr/>
        </p:nvSpPr>
        <p:spPr>
          <a:xfrm>
            <a:off x="812800" y="6238239"/>
            <a:ext cx="18109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4 · 260 team-seasons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4F0F"/>
                </a:solidFill>
                <a:latin typeface="Public Sans" pitchFamily="34" charset="0"/>
                <a:ea typeface="Public Sans" pitchFamily="34" charset="-122"/>
                <a:cs typeface="Public Sans" pitchFamily="34" charset="-120"/>
              </a:rPr>
              <a:t>FINDING 2</a:t>
            </a:r>
            <a:endParaRPr lang="en-US" sz="1200" dirty="0"/>
          </a:p>
        </p:txBody>
      </p:sp>
      <p:sp>
        <p:nvSpPr>
          <p:cNvPr id="3" name="Text 1"/>
          <p:cNvSpPr/>
          <p:nvPr>
            <p:ph type="title"/>
          </p:nvPr>
        </p:nvSpPr>
        <p:spPr>
          <a:xfrm>
            <a:off x="812800" y="1229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Some teams are way off their xG</a:t>
            </a:r>
            <a:endParaRPr lang="en-US" sz="3600" dirty="0"/>
          </a:p>
        </p:txBody>
      </p:sp>
      <p:sp>
        <p:nvSpPr>
          <p:cNvPr id="4" name="Shape 2"/>
          <p:cNvSpPr/>
          <p:nvPr/>
        </p:nvSpPr>
        <p:spPr>
          <a:xfrm>
            <a:off x="812800" y="2104389"/>
            <a:ext cx="5461000" cy="3568700"/>
          </a:xfrm>
          <a:prstGeom prst="roundRect">
            <a:avLst>
              <a:gd name="adj" fmla="val 2135"/>
            </a:avLst>
          </a:prstGeom>
          <a:solidFill>
            <a:srgbClr val="FFFFFF"/>
          </a:solidFill>
          <a:ln/>
        </p:spPr>
      </p:sp>
      <p:pic>
        <p:nvPicPr>
          <p:cNvPr id="5" name="Image 0" descr="Top 5 over- and under-performers with bootstrap 95% confidence intervals; Man City 2013-14 +25.9, Norwich 2013-14 -18.7">    </p:cNvPr>
          <p:cNvPicPr>
            <a:picLocks noChangeAspect="1"/>
          </p:cNvPicPr>
          <p:nvPr/>
        </p:nvPicPr>
        <p:blipFill>
          <a:blip r:embed="rId1"/>
          <a:srcRect l="-187" r="-187" t="0" b="0"/>
          <a:stretch/>
        </p:blipFill>
        <p:spPr>
          <a:xfrm>
            <a:off x="812800" y="2104389"/>
            <a:ext cx="5461000" cy="3568700"/>
          </a:xfrm>
          <a:prstGeom prst="roundRect">
            <a:avLst>
              <a:gd name="adj" fmla="val 2135"/>
            </a:avLst>
          </a:prstGeom>
        </p:spPr>
      </p:pic>
      <p:sp>
        <p:nvSpPr>
          <p:cNvPr id="6" name="Text 3"/>
          <p:cNvSpPr/>
          <p:nvPr/>
        </p:nvSpPr>
        <p:spPr>
          <a:xfrm>
            <a:off x="6680200" y="2984500"/>
            <a:ext cx="483997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15%</a:t>
            </a:r>
            <a:endParaRPr lang="en-US" sz="6000" dirty="0"/>
          </a:p>
        </p:txBody>
      </p:sp>
      <p:sp>
        <p:nvSpPr>
          <p:cNvPr id="7" name="Text 4"/>
          <p:cNvSpPr/>
          <p:nvPr/>
        </p:nvSpPr>
        <p:spPr>
          <a:xfrm>
            <a:off x="6680200" y="3898900"/>
            <a:ext cx="483997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of team-seasons were off by more than luck explains. Luck alone would give about 5%.</a:t>
            </a:r>
            <a:endParaRPr lang="en-US" sz="1600" dirty="0"/>
          </a:p>
        </p:txBody>
      </p:sp>
      <p:sp>
        <p:nvSpPr>
          <p:cNvPr id="8" name="Text 5"/>
          <p:cNvSpPr/>
          <p:nvPr/>
        </p:nvSpPr>
        <p:spPr>
          <a:xfrm>
            <a:off x="6680200" y="4544061"/>
            <a:ext cx="48399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Man City 2013-14: 102 goals from 76 xG.</a:t>
            </a:r>
            <a:endParaRPr lang="en-US" sz="1400" dirty="0"/>
          </a:p>
        </p:txBody>
      </p:sp>
      <p:sp>
        <p:nvSpPr>
          <p:cNvPr id="9" name="Text 6"/>
          <p:cNvSpPr/>
          <p:nvPr/>
        </p:nvSpPr>
        <p:spPr>
          <a:xfrm>
            <a:off x="812800" y="6238239"/>
            <a:ext cx="26196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5 · Bars = bootstrap 95% range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4F0F"/>
                </a:solidFill>
                <a:latin typeface="Public Sans" pitchFamily="34" charset="0"/>
                <a:ea typeface="Public Sans" pitchFamily="34" charset="-122"/>
                <a:cs typeface="Public Sans" pitchFamily="34" charset="-120"/>
              </a:rPr>
              <a:t>FINDING 3</a:t>
            </a:r>
            <a:endParaRPr lang="en-US" sz="1200" dirty="0"/>
          </a:p>
        </p:txBody>
      </p:sp>
      <p:sp>
        <p:nvSpPr>
          <p:cNvPr id="3" name="Text 1"/>
          <p:cNvSpPr/>
          <p:nvPr>
            <p:ph type="title"/>
          </p:nvPr>
        </p:nvSpPr>
        <p:spPr>
          <a:xfrm>
            <a:off x="812800" y="1229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Home teams get more chances, not better finishing</a:t>
            </a:r>
            <a:endParaRPr lang="en-US" sz="3600" dirty="0"/>
          </a:p>
        </p:txBody>
      </p:sp>
      <p:sp>
        <p:nvSpPr>
          <p:cNvPr id="4" name="Shape 2"/>
          <p:cNvSpPr/>
          <p:nvPr/>
        </p:nvSpPr>
        <p:spPr>
          <a:xfrm>
            <a:off x="812800" y="2269489"/>
            <a:ext cx="4572000" cy="3238500"/>
          </a:xfrm>
          <a:prstGeom prst="roundRect">
            <a:avLst>
              <a:gd name="adj" fmla="val 2353"/>
            </a:avLst>
          </a:prstGeom>
          <a:solidFill>
            <a:srgbClr val="FFFFFF"/>
          </a:solidFill>
          <a:ln/>
        </p:spPr>
      </p:sp>
      <p:pic>
        <p:nvPicPr>
          <p:cNvPr id="5" name="Image 0" descr="Bar chart: home teams 1.53 xG and 1.55 goals per match; away teams 1.27 xG and 1.25 goals">    </p:cNvPr>
          <p:cNvPicPr>
            <a:picLocks noChangeAspect="1"/>
          </p:cNvPicPr>
          <p:nvPr/>
        </p:nvPicPr>
        <p:blipFill>
          <a:blip r:embed="rId1"/>
          <a:srcRect l="0" r="0" t="-195" b="-195"/>
          <a:stretch/>
        </p:blipFill>
        <p:spPr>
          <a:xfrm>
            <a:off x="812800" y="2269489"/>
            <a:ext cx="4572000" cy="3238500"/>
          </a:xfrm>
          <a:prstGeom prst="roundRect">
            <a:avLst>
              <a:gd name="adj" fmla="val 2353"/>
            </a:avLst>
          </a:prstGeom>
        </p:spPr>
      </p:pic>
      <p:sp>
        <p:nvSpPr>
          <p:cNvPr id="6" name="Text 3"/>
          <p:cNvSpPr/>
          <p:nvPr/>
        </p:nvSpPr>
        <p:spPr>
          <a:xfrm>
            <a:off x="5791200" y="3002282"/>
            <a:ext cx="575564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+0.26 xG</a:t>
            </a:r>
            <a:endParaRPr lang="en-US" sz="6000" dirty="0"/>
          </a:p>
        </p:txBody>
      </p:sp>
      <p:sp>
        <p:nvSpPr>
          <p:cNvPr id="7" name="Text 4"/>
          <p:cNvSpPr/>
          <p:nvPr/>
        </p:nvSpPr>
        <p:spPr>
          <a:xfrm>
            <a:off x="5791200" y="3916682"/>
            <a:ext cx="575564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per match for home teams (p &lt; 0.001).</a:t>
            </a:r>
            <a:endParaRPr lang="en-US" sz="1600" dirty="0"/>
          </a:p>
        </p:txBody>
      </p:sp>
      <p:sp>
        <p:nvSpPr>
          <p:cNvPr id="8" name="Text 5"/>
          <p:cNvSpPr/>
          <p:nvPr/>
        </p:nvSpPr>
        <p:spPr>
          <a:xfrm>
            <a:off x="5791200" y="4277361"/>
            <a:ext cx="575564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But they score about what their xG says (p = 0.22). They just get more and better shots.</a:t>
            </a:r>
            <a:endParaRPr lang="en-US" sz="1400" dirty="0"/>
          </a:p>
        </p:txBody>
      </p:sp>
      <p:sp>
        <p:nvSpPr>
          <p:cNvPr id="9" name="Text 6"/>
          <p:cNvSpPr/>
          <p:nvPr/>
        </p:nvSpPr>
        <p:spPr>
          <a:xfrm>
            <a:off x="812800" y="6238239"/>
            <a:ext cx="19086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6 · Per team per match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4F0F"/>
                </a:solidFill>
                <a:latin typeface="Public Sans" pitchFamily="34" charset="0"/>
                <a:ea typeface="Public Sans" pitchFamily="34" charset="-122"/>
                <a:cs typeface="Public Sans" pitchFamily="34" charset="-120"/>
              </a:rPr>
              <a:t>FINDING 4</a:t>
            </a:r>
            <a:endParaRPr lang="en-US" sz="1200" dirty="0"/>
          </a:p>
        </p:txBody>
      </p:sp>
      <p:sp>
        <p:nvSpPr>
          <p:cNvPr id="3" name="Text 1"/>
          <p:cNvSpPr/>
          <p:nvPr>
            <p:ph type="title"/>
          </p:nvPr>
        </p:nvSpPr>
        <p:spPr>
          <a:xfrm>
            <a:off x="812800" y="1229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Beating xG only partly repeats</a:t>
            </a:r>
            <a:endParaRPr lang="en-US" sz="3600" dirty="0"/>
          </a:p>
        </p:txBody>
      </p:sp>
      <p:sp>
        <p:nvSpPr>
          <p:cNvPr id="4" name="Shape 2"/>
          <p:cNvSpPr/>
          <p:nvPr/>
        </p:nvSpPr>
        <p:spPr>
          <a:xfrm>
            <a:off x="812800" y="2174239"/>
            <a:ext cx="3937000" cy="3429000"/>
          </a:xfrm>
          <a:prstGeom prst="roundRect">
            <a:avLst>
              <a:gd name="adj" fmla="val 2222"/>
            </a:avLst>
          </a:prstGeom>
          <a:solidFill>
            <a:srgbClr val="FFFFFF"/>
          </a:solidFill>
          <a:ln/>
        </p:spPr>
      </p:sp>
      <p:pic>
        <p:nvPicPr>
          <p:cNvPr id="5" name="Image 0" descr="Scatter: goals minus xG this season vs next season, r = 0.33">    </p:cNvPr>
          <p:cNvPicPr>
            <a:picLocks noChangeAspect="1"/>
          </p:cNvPicPr>
          <p:nvPr/>
        </p:nvPicPr>
        <p:blipFill>
          <a:blip r:embed="rId1"/>
          <a:stretch>
            <a:fillRect/>
          </a:stretch>
        </p:blipFill>
        <p:spPr>
          <a:xfrm>
            <a:off x="812800" y="2192035"/>
            <a:ext cx="3937000" cy="3393409"/>
          </a:xfrm>
          <a:custGeom>
            <a:avLst/>
            <a:gdLst/>
            <a:ahLst/>
            <a:cxnLst/>
            <a:rect l="l" t="t" r="r" b="b"/>
            <a:pathLst>
              <a:path w="3937000" h="3393409">
                <a:moveTo>
                  <a:pt x="0" y="58404"/>
                </a:moveTo>
                <a:arcTo wR="76200" hR="76200" stAng="10800000" swAng="3002232"/>
                <a:lnTo>
                  <a:pt x="3909743" y="0"/>
                </a:lnTo>
                <a:arcTo wR="76200" hR="76200" stAng="18597768" swAng="3002232"/>
                <a:lnTo>
                  <a:pt x="3937000" y="3335004"/>
                </a:lnTo>
                <a:arcTo wR="76200" hR="76200" stAng="0" swAng="3002232"/>
                <a:lnTo>
                  <a:pt x="27257" y="3393409"/>
                </a:lnTo>
                <a:arcTo wR="76200" hR="76200" stAng="7797768" swAng="3002232"/>
                <a:close/>
              </a:path>
            </a:pathLst>
          </a:custGeom>
        </p:spPr>
      </p:pic>
      <p:sp>
        <p:nvSpPr>
          <p:cNvPr id="6" name="Text 3"/>
          <p:cNvSpPr/>
          <p:nvPr/>
        </p:nvSpPr>
        <p:spPr>
          <a:xfrm>
            <a:off x="5156200" y="2984500"/>
            <a:ext cx="640969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Oswald" pitchFamily="34" charset="0"/>
                <a:ea typeface="Oswald" pitchFamily="34" charset="-122"/>
                <a:cs typeface="Oswald" pitchFamily="34" charset="-120"/>
              </a:rPr>
              <a:t>About 1/3</a:t>
            </a:r>
            <a:endParaRPr lang="en-US" sz="6000" dirty="0"/>
          </a:p>
        </p:txBody>
      </p:sp>
      <p:sp>
        <p:nvSpPr>
          <p:cNvPr id="7" name="Text 4"/>
          <p:cNvSpPr/>
          <p:nvPr/>
        </p:nvSpPr>
        <p:spPr>
          <a:xfrm>
            <a:off x="5156200" y="3898900"/>
            <a:ext cx="640969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of a team's over-performance carries into next season (r = 0.33). The rest goes away.</a:t>
            </a:r>
            <a:endParaRPr lang="en-US" sz="1600" dirty="0"/>
          </a:p>
        </p:txBody>
      </p:sp>
      <p:sp>
        <p:nvSpPr>
          <p:cNvPr id="8" name="Text 5"/>
          <p:cNvSpPr/>
          <p:nvPr/>
        </p:nvSpPr>
        <p:spPr>
          <a:xfrm>
            <a:off x="5156200" y="4544061"/>
            <a:ext cx="640969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It shows up in home games, not away games.</a:t>
            </a:r>
            <a:endParaRPr lang="en-US" sz="1400" dirty="0"/>
          </a:p>
        </p:txBody>
      </p:sp>
      <p:sp>
        <p:nvSpPr>
          <p:cNvPr id="9" name="Text 6"/>
          <p:cNvSpPr/>
          <p:nvPr/>
        </p:nvSpPr>
        <p:spPr>
          <a:xfrm>
            <a:off x="812800" y="6238239"/>
            <a:ext cx="297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7 · 204 back-to-back team-seasons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33D"/>
                </a:solidFill>
                <a:latin typeface="Public Sans" pitchFamily="34" charset="0"/>
                <a:ea typeface="Public Sans" pitchFamily="34" charset="-122"/>
                <a:cs typeface="Public Sans" pitchFamily="34" charset="-120"/>
              </a:rPr>
              <a:t>THE TAKEAWAY</a:t>
            </a:r>
            <a:endParaRPr lang="en-US" sz="1200" dirty="0"/>
          </a:p>
        </p:txBody>
      </p:sp>
      <p:sp>
        <p:nvSpPr>
          <p:cNvPr id="3" name="Text 1"/>
          <p:cNvSpPr/>
          <p:nvPr>
            <p:ph type="title"/>
          </p:nvPr>
        </p:nvSpPr>
        <p:spPr>
          <a:xfrm>
            <a:off x="812800" y="1330961"/>
            <a:ext cx="9810750"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Oswald" pitchFamily="34" charset="0"/>
                <a:ea typeface="Oswald" pitchFamily="34" charset="-122"/>
                <a:cs typeface="Oswald" pitchFamily="34" charset="-120"/>
              </a:rPr>
              <a:t>Judge teams by their chances, not one hot year.</a:t>
            </a:r>
            <a:endParaRPr lang="en-US" sz="4800" dirty="0"/>
          </a:p>
        </p:txBody>
      </p:sp>
      <p:sp>
        <p:nvSpPr>
          <p:cNvPr id="4" name="Shape 2"/>
          <p:cNvSpPr/>
          <p:nvPr/>
        </p:nvSpPr>
        <p:spPr>
          <a:xfrm>
            <a:off x="812800" y="2989582"/>
            <a:ext cx="3386614" cy="0"/>
          </a:xfrm>
          <a:prstGeom prst="line">
            <a:avLst/>
          </a:prstGeom>
          <a:noFill/>
          <a:ln w="25400">
            <a:solidFill>
              <a:srgbClr val="E8A33D"/>
            </a:solidFill>
            <a:prstDash val="solid"/>
          </a:ln>
        </p:spPr>
      </p:sp>
      <p:sp>
        <p:nvSpPr>
          <p:cNvPr id="5" name="Text 3"/>
          <p:cNvSpPr/>
          <p:nvPr/>
        </p:nvSpPr>
        <p:spPr>
          <a:xfrm>
            <a:off x="812800" y="3154682"/>
            <a:ext cx="348821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Public Sans" pitchFamily="34" charset="0"/>
                <a:ea typeface="Public Sans" pitchFamily="34" charset="-122"/>
                <a:cs typeface="Public Sans" pitchFamily="34" charset="-120"/>
              </a:rPr>
              <a:t>Over-performed?</a:t>
            </a:r>
            <a:endParaRPr lang="en-US" sz="1600" dirty="0"/>
          </a:p>
        </p:txBody>
      </p:sp>
      <p:sp>
        <p:nvSpPr>
          <p:cNvPr id="6" name="Text 4"/>
          <p:cNvSpPr/>
          <p:nvPr/>
        </p:nvSpPr>
        <p:spPr>
          <a:xfrm>
            <a:off x="812800" y="3474721"/>
            <a:ext cx="34882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Expect about two thirds of the gap to vanish next season.</a:t>
            </a:r>
            <a:endParaRPr lang="en-US" sz="1400" dirty="0"/>
          </a:p>
        </p:txBody>
      </p:sp>
      <p:sp>
        <p:nvSpPr>
          <p:cNvPr id="7" name="Shape 5"/>
          <p:cNvSpPr/>
          <p:nvPr/>
        </p:nvSpPr>
        <p:spPr>
          <a:xfrm>
            <a:off x="4402614" y="2989582"/>
            <a:ext cx="3386693" cy="0"/>
          </a:xfrm>
          <a:prstGeom prst="line">
            <a:avLst/>
          </a:prstGeom>
          <a:noFill/>
          <a:ln w="25400">
            <a:solidFill>
              <a:srgbClr val="E8A33D"/>
            </a:solidFill>
            <a:prstDash val="solid"/>
          </a:ln>
        </p:spPr>
      </p:sp>
      <p:sp>
        <p:nvSpPr>
          <p:cNvPr id="8" name="Text 6"/>
          <p:cNvSpPr/>
          <p:nvPr/>
        </p:nvSpPr>
        <p:spPr>
          <a:xfrm>
            <a:off x="4402614" y="3154682"/>
            <a:ext cx="3488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Public Sans" pitchFamily="34" charset="0"/>
                <a:ea typeface="Public Sans" pitchFamily="34" charset="-122"/>
                <a:cs typeface="Public Sans" pitchFamily="34" charset="-120"/>
              </a:rPr>
              <a:t>Under-performed?</a:t>
            </a:r>
            <a:endParaRPr lang="en-US" sz="1600" dirty="0"/>
          </a:p>
        </p:txBody>
      </p:sp>
      <p:sp>
        <p:nvSpPr>
          <p:cNvPr id="9" name="Text 7"/>
          <p:cNvSpPr/>
          <p:nvPr/>
        </p:nvSpPr>
        <p:spPr>
          <a:xfrm>
            <a:off x="4402614" y="3474721"/>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Expect a bounce back.</a:t>
            </a:r>
            <a:endParaRPr lang="en-US" sz="1400" dirty="0"/>
          </a:p>
        </p:txBody>
      </p:sp>
      <p:sp>
        <p:nvSpPr>
          <p:cNvPr id="10" name="Shape 8"/>
          <p:cNvSpPr/>
          <p:nvPr/>
        </p:nvSpPr>
        <p:spPr>
          <a:xfrm>
            <a:off x="7992507" y="2989582"/>
            <a:ext cx="3386693" cy="0"/>
          </a:xfrm>
          <a:prstGeom prst="line">
            <a:avLst/>
          </a:prstGeom>
          <a:noFill/>
          <a:ln w="25400">
            <a:solidFill>
              <a:srgbClr val="E8A33D"/>
            </a:solidFill>
            <a:prstDash val="solid"/>
          </a:ln>
        </p:spPr>
      </p:sp>
      <p:sp>
        <p:nvSpPr>
          <p:cNvPr id="11" name="Text 9"/>
          <p:cNvSpPr/>
          <p:nvPr/>
        </p:nvSpPr>
        <p:spPr>
          <a:xfrm>
            <a:off x="7992507" y="3154682"/>
            <a:ext cx="3488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Public Sans" pitchFamily="34" charset="0"/>
                <a:ea typeface="Public Sans" pitchFamily="34" charset="-122"/>
                <a:cs typeface="Public Sans" pitchFamily="34" charset="-120"/>
              </a:rPr>
              <a:t>Limits</a:t>
            </a:r>
            <a:endParaRPr lang="en-US" sz="1600" dirty="0"/>
          </a:p>
        </p:txBody>
      </p:sp>
      <p:sp>
        <p:nvSpPr>
          <p:cNvPr id="12" name="Text 10"/>
          <p:cNvSpPr/>
          <p:nvPr/>
        </p:nvSpPr>
        <p:spPr>
          <a:xfrm>
            <a:off x="7992507" y="3474721"/>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Our xG is a shots-on-target estimate, not real xG.</a:t>
            </a:r>
            <a:endParaRPr lang="en-US" sz="1400" dirty="0"/>
          </a:p>
        </p:txBody>
      </p:sp>
      <p:sp>
        <p:nvSpPr>
          <p:cNvPr id="13" name="Text 11"/>
          <p:cNvSpPr/>
          <p:nvPr/>
        </p:nvSpPr>
        <p:spPr>
          <a:xfrm>
            <a:off x="812800" y="5654042"/>
            <a:ext cx="10883392"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E8A33D"/>
                </a:solidFill>
                <a:latin typeface="Oswald" pitchFamily="34" charset="0"/>
                <a:ea typeface="Oswald" pitchFamily="34" charset="-122"/>
                <a:cs typeface="Oswald" pitchFamily="34" charset="-120"/>
              </a:rPr>
              <a:t>Questions?</a:t>
            </a:r>
            <a:endParaRPr lang="en-US" sz="2200" dirty="0"/>
          </a:p>
        </p:txBody>
      </p:sp>
    </p:spTree>
  </p:cSld>
  <p:clrMapOvr>
    <a:masterClrMapping/>
  </p:clrMapOvr>
</p:sld>
</file>

<file path=ppt/theme/theme1.xml><?xml version="1.0" encoding="utf-8"?>
<a:theme xmlns:a="http://schemas.openxmlformats.org/drawingml/2006/main" name="Luck or Skill? EPL Presentation">
  <a:themeElements>
    <a:clrScheme name="Luck or Skill? EPL Presentation">
      <a:dk1>
        <a:srgbClr val="14213D"/>
      </a:dk1>
      <a:lt1>
        <a:srgbClr val="F6F4EE"/>
      </a:lt1>
      <a:dk2>
        <a:srgbClr val="4D5669"/>
      </a:dk2>
      <a:lt2>
        <a:srgbClr val="DFDFDC"/>
      </a:lt2>
      <a:accent1>
        <a:srgbClr val="9A4F0F"/>
      </a:accent1>
      <a:accent2>
        <a:srgbClr val="E8A33D"/>
      </a:accent2>
      <a:accent3>
        <a:srgbClr val="4A5568"/>
      </a:accent3>
      <a:accent4>
        <a:srgbClr val="6A7179"/>
      </a:accent4>
      <a:accent5>
        <a:srgbClr val="C9D3E3"/>
      </a:accent5>
      <a:accent6>
        <a:srgbClr val="9AA0A6"/>
      </a:accent6>
      <a:hlink>
        <a:srgbClr val="0563C1"/>
      </a:hlink>
      <a:folHlink>
        <a:srgbClr val="954F72"/>
      </a:folHlink>
    </a:clrScheme>
    <a:fontScheme name="Luck or Skill? EPL Presentation">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Luck or Skill? EPL Presentation</dc:title>
  <dc:subject/>
  <dc:creator/>
  <cp:lastModifiedBy/>
  <cp:revision>1</cp:revision>
  <dcterms:created xsi:type="dcterms:W3CDTF">2026-10-05T12:44:04Z</dcterms:created>
  <dcterms:modified xsi:type="dcterms:W3CDTF">2026-10-05T12:44:04Z</dcterms:modified>
</cp:coreProperties>
</file>