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1" r:id="rId4"/>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Lst>
  <p:sldSz cy="5143500" cx="9144000"/>
  <p:notesSz cx="6858000" cy="9144000"/>
  <p:embeddedFontLst>
    <p:embeddedFont>
      <p:font typeface="Public Sans"/>
      <p:regular r:id="rId16"/>
      <p:bold r:id="rId17"/>
      <p:italic r:id="rId18"/>
      <p:boldItalic r:id="rId19"/>
    </p:embeddedFont>
    <p:embeddedFont>
      <p:font typeface="Oswald"/>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Oswald-regular.fntdata"/><Relationship Id="rId11" Type="http://schemas.openxmlformats.org/officeDocument/2006/relationships/slide" Target="slides/slide5.xml"/><Relationship Id="rId10" Type="http://schemas.openxmlformats.org/officeDocument/2006/relationships/slide" Target="slides/slide4.xml"/><Relationship Id="rId21" Type="http://schemas.openxmlformats.org/officeDocument/2006/relationships/font" Target="fonts/Oswald-bold.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font" Target="fonts/PublicSans-bold.fntdata"/><Relationship Id="rId16" Type="http://schemas.openxmlformats.org/officeDocument/2006/relationships/font" Target="fonts/PublicSans-regular.fntdata"/><Relationship Id="rId5" Type="http://schemas.openxmlformats.org/officeDocument/2006/relationships/slideMaster" Target="slideMasters/slideMaster2.xml"/><Relationship Id="rId19" Type="http://schemas.openxmlformats.org/officeDocument/2006/relationships/font" Target="fonts/PublicSans-boldItalic.fntdata"/><Relationship Id="rId6" Type="http://schemas.openxmlformats.org/officeDocument/2006/relationships/notesMaster" Target="notesMasters/notesMaster1.xml"/><Relationship Id="rId18" Type="http://schemas.openxmlformats.org/officeDocument/2006/relationships/font" Target="fonts/PublicSans-italic.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h4969f04df6a31350_3_7: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h4969f04df6a31350_3_7: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Hi everyone. Our project asks a question every soccer fan argues about: when a team scores a ton of goals, is that skill, or did they just get lucky? We used 13 seasons of Premier League data to find out.</a:t>
            </a:r>
            <a:endParaRPr/>
          </a:p>
        </p:txBody>
      </p:sp>
      <p:sp>
        <p:nvSpPr>
          <p:cNvPr id="60" name="Google Shape;60;h4969f04df6a31350_3_7: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h4969f04df6a31350_3_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h4969f04df6a31350_3_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Quick definition first: xG, or expected goals, is how many goals a team should have scored based on the quality of its chances. So if a team scores way more than its xG, it's either really good at finishing or it got lucky. Our test is simple: luck shouldn't repeat next season, but skill should. This matters because clubs spend millions after one good season, and fans and analysts want to know if a streak is real.</a:t>
            </a:r>
            <a:endParaRPr/>
          </a:p>
        </p:txBody>
      </p:sp>
      <p:sp>
        <p:nvSpPr>
          <p:cNvPr id="69" name="Google Shape;69;h4969f04df6a31350_3_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h4969f04df6a31350_3_33: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h4969f04df6a31350_3_33: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We pulled every Premier League game from football-data.co.uk: the score, shots, and shots on target. The first problem was that the site doesn't have real xG. So we made our own: across the league, about 32% of shots on target go in, so each shot on target counts as 0.32 expected goals. We started at 2013-14 because that's when the site changed how it counts shots on target. That gave us 13 seasons and 4,940 games.</a:t>
            </a:r>
            <a:endParaRPr/>
          </a:p>
        </p:txBody>
      </p:sp>
      <p:sp>
        <p:nvSpPr>
          <p:cNvPr id="87" name="Google Shape;87;h4969f04df6a31350_3_33: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4969f04df6a31350_3_4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2" name="Google Shape;102;h4969f04df6a31350_3_4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Since this project is about data scraping, here's how we got our data. Our script loads the England results page on football-data.co.uk with requests. Then BeautifulSoup finds every link to a Premier League season file, which the site names E0.csv. We downloaded all 26 seasons from 2000-01 to 2025-26. We tried to scrape politely: we waited one second between files and sent a user-agent that says it's a student project. Some of the older files were messy, with extra columns and different text encodings, so we handled those while reading them. Everything got combined into one CSV of 9,880 games and saved, so we only had to scrape once. All of our code is on GitHub.</a:t>
            </a:r>
            <a:endParaRPr/>
          </a:p>
        </p:txBody>
      </p:sp>
      <p:sp>
        <p:nvSpPr>
          <p:cNvPr id="103" name="Google Shape;103;h4969f04df6a31350_3_4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h4969f04df6a31350_3_80: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h4969f04df6a31350_3_80: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Each dot is one team in one season. On the left, chance difference vs points. On the right, goal difference vs points. Chances alone explain 80% of where a team finishes. Actual goals explain 93%, so that extra 13% is the part where finishing, or luck, comes in. This matters because it means you can mostly judge a team by the chances it creates.</a:t>
            </a:r>
            <a:endParaRPr/>
          </a:p>
        </p:txBody>
      </p:sp>
      <p:sp>
        <p:nvSpPr>
          <p:cNvPr id="136" name="Google Shape;136;h4969f04df6a31350_3_80: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h4969f04df6a31350_3_92: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h4969f04df6a31350_3_92: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result surprised us. Man City in 2013-14 scored 102 goals when their chances were only worth 76. Norwich that same year scored 28 from 47. The grey bars show the range we got by reshuffling each team's games 10,000 times, and none of them cross zero, so these gaps aren't just luck. Overall, about 15% of team-seasons were off by more than luck would explain, when you'd expect only about 5%.</a:t>
            </a:r>
            <a:endParaRPr/>
          </a:p>
        </p:txBody>
      </p:sp>
      <p:sp>
        <p:nvSpPr>
          <p:cNvPr id="149" name="Google Shape;149;h4969f04df6a31350_3_92: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h4969f04df6a31350_3_104: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1" name="Google Shape;161;h4969f04df6a31350_3_104: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Everyone knows home teams win more. We wanted to know why. It can be explained by chances: home teams create about a quarter of a goal more xG per match. But once they get those chances, they don't finish any better than away teams. So home advantage is about getting more shots, not shooting better.</a:t>
            </a:r>
            <a:endParaRPr/>
          </a:p>
        </p:txBody>
      </p:sp>
      <p:sp>
        <p:nvSpPr>
          <p:cNvPr id="162" name="Google Shape;162;h4969f04df6a31350_3_104: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4969f04df6a31350_3_116: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4" name="Google Shape;174;h4969f04df6a31350_3_116: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This is the real test. Each dot is a team: how much it beat its xG this season, and how much it beat it next season. If it were all luck, this would be a random cloud. If it were all skill, the dots would sit on a diagonal line. It's in between: about a third carries over, so there's some skill, but most of a big gap fades. Part of that third is just good teams like Man City being good every year.</a:t>
            </a:r>
            <a:endParaRPr/>
          </a:p>
        </p:txBody>
      </p:sp>
      <p:sp>
        <p:nvSpPr>
          <p:cNvPr id="175" name="Google Shape;175;h4969f04df6a31350_3_116: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h4969f04df6a31350_3_128:notes"/>
          <p:cNvSpPr/>
          <p:nvPr>
            <p:ph idx="2" type="sldImg"/>
          </p:nvPr>
        </p:nvSpPr>
        <p:spPr>
          <a:xfrm>
            <a:off x="685800" y="857250"/>
            <a:ext cx="5486400" cy="2314575"/>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h4969f04df6a31350_3_128:notes"/>
          <p:cNvSpPr txBox="1"/>
          <p:nvPr>
            <p:ph idx="1" type="body"/>
          </p:nvPr>
        </p:nvSpPr>
        <p:spPr>
          <a:xfrm>
            <a:off x="685800" y="3300413"/>
            <a:ext cx="5486400" cy="2700338"/>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
              <a:t>So what does this mean? If you're a club or a scout, the chances a team creates are the best guess for how it'll do next year. If a team scored way more than its xG, expect most of that to disappear, so don't pay big money for one hot season. And if a team was unlucky, it'll probably bounce back. One limit: we didn't have real xG, so ours is based on shots on target only. With real shot-by-shot xG we'd expect sharper results. Thanks, any questions?</a:t>
            </a:r>
            <a:endParaRPr/>
          </a:p>
        </p:txBody>
      </p:sp>
      <p:sp>
        <p:nvSpPr>
          <p:cNvPr id="188" name="Google Shape;188;h4969f04df6a31350_3_128:notes"/>
          <p:cNvSpPr txBox="1"/>
          <p:nvPr>
            <p:ph idx="12" type="sldNum"/>
          </p:nvPr>
        </p:nvSpPr>
        <p:spPr>
          <a:xfrm>
            <a:off x="3884613" y="6513910"/>
            <a:ext cx="2971800" cy="34409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bg>
      <p:bgPr>
        <a:solidFill>
          <a:srgbClr val="F6F4EE"/>
        </a:solidFill>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609600" y="922021"/>
            <a:ext cx="7924800" cy="377190"/>
          </a:xfrm>
          <a:prstGeom prst="rect">
            <a:avLst/>
          </a:prstGeom>
          <a:noFill/>
          <a:ln>
            <a:noFill/>
          </a:ln>
        </p:spPr>
        <p:txBody>
          <a:bodyPr anchorCtr="0" anchor="t" bIns="0" lIns="0" spcFirstLastPara="1" rIns="0" wrap="square" tIns="0">
            <a:noAutofit/>
          </a:bodyPr>
          <a:lstStyle>
            <a:lvl1pPr lvl="0" algn="l">
              <a:lnSpc>
                <a:spcPct val="115000"/>
              </a:lnSpc>
              <a:spcBef>
                <a:spcPts val="0"/>
              </a:spcBef>
              <a:spcAft>
                <a:spcPts val="0"/>
              </a:spcAft>
              <a:buClr>
                <a:srgbClr val="14213D"/>
              </a:buClr>
              <a:buSzPts val="2700"/>
              <a:buFont typeface="Oswald"/>
              <a:buNone/>
              <a:defRPr sz="2700">
                <a:solidFill>
                  <a:srgbClr val="14213D"/>
                </a:solidFill>
                <a:latin typeface="Oswald"/>
                <a:ea typeface="Oswald"/>
                <a:cs typeface="Oswald"/>
                <a:sym typeface="Oswald"/>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5" name="Google Shape;55;p14"/>
          <p:cNvSpPr txBox="1"/>
          <p:nvPr>
            <p:ph idx="1" type="body"/>
          </p:nvPr>
        </p:nvSpPr>
        <p:spPr>
          <a:xfrm>
            <a:off x="609600" y="1527811"/>
            <a:ext cx="7924800" cy="3006089"/>
          </a:xfrm>
          <a:prstGeom prst="rect">
            <a:avLst/>
          </a:prstGeom>
          <a:noFill/>
          <a:ln>
            <a:noFill/>
          </a:ln>
        </p:spPr>
        <p:txBody>
          <a:bodyPr anchorCtr="0" anchor="t" bIns="0" lIns="0" spcFirstLastPara="1" rIns="0" wrap="square" tIns="0">
            <a:noAutofit/>
          </a:bodyPr>
          <a:lstStyle>
            <a:lvl1pPr indent="-228600" lvl="0" marL="457200" algn="l">
              <a:lnSpc>
                <a:spcPct val="140000"/>
              </a:lnSpc>
              <a:spcBef>
                <a:spcPts val="200"/>
              </a:spcBef>
              <a:spcAft>
                <a:spcPts val="0"/>
              </a:spcAft>
              <a:buClr>
                <a:srgbClr val="14213D"/>
              </a:buClr>
              <a:buSzPts val="1200"/>
              <a:buNone/>
              <a:defRPr sz="1200">
                <a:solidFill>
                  <a:srgbClr val="14213D"/>
                </a:solidFill>
                <a:latin typeface="Public Sans"/>
                <a:ea typeface="Public Sans"/>
                <a:cs typeface="Public Sans"/>
                <a:sym typeface="Public Sans"/>
              </a:defRPr>
            </a:lvl1pPr>
            <a:lvl2pPr indent="-317500" lvl="1" marL="914400" algn="l">
              <a:spcBef>
                <a:spcPts val="300"/>
              </a:spcBef>
              <a:spcAft>
                <a:spcPts val="0"/>
              </a:spcAft>
              <a:buClr>
                <a:schemeClr val="dk1"/>
              </a:buClr>
              <a:buSzPts val="1400"/>
              <a:buChar char="–"/>
              <a:defRPr/>
            </a:lvl2pPr>
            <a:lvl3pPr indent="-317500" lvl="2" marL="1371600" algn="l">
              <a:spcBef>
                <a:spcPts val="300"/>
              </a:spcBef>
              <a:spcAft>
                <a:spcPts val="0"/>
              </a:spcAft>
              <a:buClr>
                <a:schemeClr val="dk1"/>
              </a:buClr>
              <a:buSzPts val="1400"/>
              <a:buChar char="•"/>
              <a:defRPr/>
            </a:lvl3pPr>
            <a:lvl4pPr indent="-317500" lvl="3" marL="1828800" algn="l">
              <a:spcBef>
                <a:spcPts val="300"/>
              </a:spcBef>
              <a:spcAft>
                <a:spcPts val="0"/>
              </a:spcAft>
              <a:buClr>
                <a:schemeClr val="dk1"/>
              </a:buClr>
              <a:buSzPts val="1400"/>
              <a:buChar char="–"/>
              <a:defRPr/>
            </a:lvl4pPr>
            <a:lvl5pPr indent="-317500" lvl="4" marL="2286000" algn="l">
              <a:spcBef>
                <a:spcPts val="300"/>
              </a:spcBef>
              <a:spcAft>
                <a:spcPts val="0"/>
              </a:spcAft>
              <a:buClr>
                <a:schemeClr val="dk1"/>
              </a:buClr>
              <a:buSzPts val="1400"/>
              <a:buChar char="»"/>
              <a:defRPr/>
            </a:lvl5pPr>
            <a:lvl6pPr indent="-317500" lvl="5" marL="2743200" algn="l">
              <a:spcBef>
                <a:spcPts val="300"/>
              </a:spcBef>
              <a:spcAft>
                <a:spcPts val="0"/>
              </a:spcAft>
              <a:buClr>
                <a:schemeClr val="dk1"/>
              </a:buClr>
              <a:buSzPts val="1400"/>
              <a:buChar char="•"/>
              <a:defRPr/>
            </a:lvl6pPr>
            <a:lvl7pPr indent="-317500" lvl="6" marL="3200400" algn="l">
              <a:spcBef>
                <a:spcPts val="300"/>
              </a:spcBef>
              <a:spcAft>
                <a:spcPts val="0"/>
              </a:spcAft>
              <a:buClr>
                <a:schemeClr val="dk1"/>
              </a:buClr>
              <a:buSzPts val="1400"/>
              <a:buChar char="•"/>
              <a:defRPr/>
            </a:lvl7pPr>
            <a:lvl8pPr indent="-317500" lvl="7" marL="3657600" algn="l">
              <a:spcBef>
                <a:spcPts val="300"/>
              </a:spcBef>
              <a:spcAft>
                <a:spcPts val="0"/>
              </a:spcAft>
              <a:buClr>
                <a:schemeClr val="dk1"/>
              </a:buClr>
              <a:buSzPts val="1400"/>
              <a:buChar char="•"/>
              <a:defRPr/>
            </a:lvl8pPr>
            <a:lvl9pPr indent="-317500" lvl="8" marL="4114800" algn="l">
              <a:spcBef>
                <a:spcPts val="300"/>
              </a:spcBef>
              <a:spcAft>
                <a:spcPts val="0"/>
              </a:spcAft>
              <a:buClr>
                <a:schemeClr val="dk1"/>
              </a:buClr>
              <a:buSzPts val="14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6" name="Shape 5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609600" y="922021"/>
            <a:ext cx="7924800" cy="377190"/>
          </a:xfrm>
          <a:prstGeom prst="rect">
            <a:avLst/>
          </a:prstGeom>
          <a:noFill/>
          <a:ln>
            <a:noFill/>
          </a:ln>
        </p:spPr>
        <p:txBody>
          <a:bodyPr anchorCtr="0" anchor="t" bIns="0" lIns="0" spcFirstLastPara="1" rIns="0" wrap="square" tIns="0">
            <a:noAutofit/>
          </a:bodyPr>
          <a:lstStyle>
            <a:lvl1pPr lvl="0" marR="0" rtl="0" algn="l">
              <a:lnSpc>
                <a:spcPct val="115000"/>
              </a:lnSpc>
              <a:spcBef>
                <a:spcPts val="0"/>
              </a:spcBef>
              <a:spcAft>
                <a:spcPts val="0"/>
              </a:spcAft>
              <a:buClr>
                <a:srgbClr val="14213D"/>
              </a:buClr>
              <a:buSzPts val="2700"/>
              <a:buFont typeface="Oswald"/>
              <a:buNone/>
              <a:defRPr b="0" i="0" sz="2700" u="none" cap="none" strike="noStrike">
                <a:solidFill>
                  <a:srgbClr val="14213D"/>
                </a:solidFill>
                <a:latin typeface="Oswald"/>
                <a:ea typeface="Oswald"/>
                <a:cs typeface="Oswald"/>
                <a:sym typeface="Oswald"/>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2" name="Google Shape;52;p13"/>
          <p:cNvSpPr txBox="1"/>
          <p:nvPr>
            <p:ph idx="1" type="body"/>
          </p:nvPr>
        </p:nvSpPr>
        <p:spPr>
          <a:xfrm>
            <a:off x="609600" y="1527811"/>
            <a:ext cx="7924800" cy="3006089"/>
          </a:xfrm>
          <a:prstGeom prst="rect">
            <a:avLst/>
          </a:prstGeom>
          <a:noFill/>
          <a:ln>
            <a:noFill/>
          </a:ln>
        </p:spPr>
        <p:txBody>
          <a:bodyPr anchorCtr="0" anchor="t" bIns="0" lIns="0" spcFirstLastPara="1" rIns="0" wrap="square" tIns="0">
            <a:noAutofit/>
          </a:bodyPr>
          <a:lstStyle>
            <a:lvl1pPr indent="-228600" lvl="0" marL="457200" marR="0" rtl="0" algn="l">
              <a:lnSpc>
                <a:spcPct val="140000"/>
              </a:lnSpc>
              <a:spcBef>
                <a:spcPts val="200"/>
              </a:spcBef>
              <a:spcAft>
                <a:spcPts val="0"/>
              </a:spcAft>
              <a:buClr>
                <a:srgbClr val="14213D"/>
              </a:buClr>
              <a:buSzPts val="1200"/>
              <a:buFont typeface="Arial"/>
              <a:buNone/>
              <a:defRPr b="0" i="0" sz="1200" u="none" cap="none" strike="noStrike">
                <a:solidFill>
                  <a:srgbClr val="14213D"/>
                </a:solidFill>
                <a:latin typeface="Public Sans"/>
                <a:ea typeface="Public Sans"/>
                <a:cs typeface="Public Sans"/>
                <a:sym typeface="Public Sans"/>
              </a:defRPr>
            </a:lvl1pPr>
            <a:lvl2pPr indent="-361950" lvl="1" marL="914400" marR="0" rtl="0" algn="l">
              <a:spcBef>
                <a:spcPts val="400"/>
              </a:spcBef>
              <a:spcAft>
                <a:spcPts val="0"/>
              </a:spcAft>
              <a:buClr>
                <a:schemeClr val="dk1"/>
              </a:buClr>
              <a:buSzPts val="2100"/>
              <a:buFont typeface="Arial"/>
              <a:buChar char="–"/>
              <a:defRPr b="0" i="0" sz="2100" u="none" cap="none" strike="noStrike">
                <a:solidFill>
                  <a:schemeClr val="dk1"/>
                </a:solidFill>
                <a:latin typeface="Public Sans"/>
                <a:ea typeface="Public Sans"/>
                <a:cs typeface="Public Sans"/>
                <a:sym typeface="Public Sans"/>
              </a:defRPr>
            </a:lvl2pPr>
            <a:lvl3pPr indent="-342900" lvl="2" marL="1371600" marR="0" rtl="0" algn="l">
              <a:spcBef>
                <a:spcPts val="400"/>
              </a:spcBef>
              <a:spcAft>
                <a:spcPts val="0"/>
              </a:spcAft>
              <a:buClr>
                <a:schemeClr val="dk1"/>
              </a:buClr>
              <a:buSzPts val="1800"/>
              <a:buFont typeface="Arial"/>
              <a:buChar char="•"/>
              <a:defRPr b="0" i="0" sz="1800" u="none" cap="none" strike="noStrike">
                <a:solidFill>
                  <a:schemeClr val="dk1"/>
                </a:solidFill>
                <a:latin typeface="Public Sans"/>
                <a:ea typeface="Public Sans"/>
                <a:cs typeface="Public Sans"/>
                <a:sym typeface="Public Sans"/>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Public Sans"/>
                <a:ea typeface="Public Sans"/>
                <a:cs typeface="Public Sans"/>
                <a:sym typeface="Public Sans"/>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61" name="Shape 61"/>
        <p:cNvGrpSpPr/>
        <p:nvPr/>
      </p:nvGrpSpPr>
      <p:grpSpPr>
        <a:xfrm>
          <a:off x="0" y="0"/>
          <a:ext cx="0" cy="0"/>
          <a:chOff x="0" y="0"/>
          <a:chExt cx="0" cy="0"/>
        </a:xfrm>
      </p:grpSpPr>
      <p:sp>
        <p:nvSpPr>
          <p:cNvPr id="62" name="Google Shape;62;p16"/>
          <p:cNvSpPr/>
          <p:nvPr/>
        </p:nvSpPr>
        <p:spPr>
          <a:xfrm>
            <a:off x="609600" y="1400175"/>
            <a:ext cx="8162544" cy="2324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A33D"/>
              </a:buClr>
              <a:buSzPts val="1200"/>
              <a:buFont typeface="Public Sans"/>
              <a:buNone/>
            </a:pPr>
            <a:r>
              <a:rPr b="1" i="0" lang="en" sz="1200" u="none" cap="none" strike="noStrike">
                <a:solidFill>
                  <a:srgbClr val="E8A33D"/>
                </a:solidFill>
                <a:latin typeface="Public Sans"/>
                <a:ea typeface="Public Sans"/>
                <a:cs typeface="Public Sans"/>
                <a:sym typeface="Public Sans"/>
              </a:rPr>
              <a:t>CS 5830 · PROJECT 3</a:t>
            </a:r>
            <a:endParaRPr b="0" i="0" sz="1200" u="none" cap="none" strike="noStrike">
              <a:solidFill>
                <a:schemeClr val="dk1"/>
              </a:solidFill>
              <a:latin typeface="Public Sans"/>
              <a:ea typeface="Public Sans"/>
              <a:cs typeface="Public Sans"/>
              <a:sym typeface="Public Sans"/>
            </a:endParaRPr>
          </a:p>
        </p:txBody>
      </p:sp>
      <p:sp>
        <p:nvSpPr>
          <p:cNvPr id="63" name="Google Shape;63;p16"/>
          <p:cNvSpPr txBox="1"/>
          <p:nvPr>
            <p:ph type="title"/>
          </p:nvPr>
        </p:nvSpPr>
        <p:spPr>
          <a:xfrm>
            <a:off x="609600" y="1804035"/>
            <a:ext cx="8162544" cy="819150"/>
          </a:xfrm>
          <a:prstGeom prst="rect">
            <a:avLst/>
          </a:prstGeom>
          <a:noFill/>
          <a:ln>
            <a:noFill/>
          </a:ln>
        </p:spPr>
        <p:txBody>
          <a:bodyPr anchorCtr="0" anchor="t" bIns="0" lIns="0" spcFirstLastPara="1" rIns="0" wrap="square" tIns="0">
            <a:normAutofit/>
          </a:bodyPr>
          <a:lstStyle/>
          <a:p>
            <a:pPr indent="0" lvl="0" marL="0" rtl="0" algn="l">
              <a:lnSpc>
                <a:spcPct val="104999"/>
              </a:lnSpc>
              <a:spcBef>
                <a:spcPts val="0"/>
              </a:spcBef>
              <a:spcAft>
                <a:spcPts val="0"/>
              </a:spcAft>
              <a:buClr>
                <a:srgbClr val="F6F4EE"/>
              </a:buClr>
              <a:buSzPts val="6000"/>
              <a:buFont typeface="Oswald"/>
              <a:buNone/>
            </a:pPr>
            <a:r>
              <a:rPr b="1" i="0" lang="en" sz="6000">
                <a:solidFill>
                  <a:srgbClr val="F6F4EE"/>
                </a:solidFill>
                <a:latin typeface="Oswald"/>
                <a:ea typeface="Oswald"/>
                <a:cs typeface="Oswald"/>
                <a:sym typeface="Oswald"/>
              </a:rPr>
              <a:t>Luck or Skill?</a:t>
            </a:r>
            <a:endParaRPr sz="6000"/>
          </a:p>
        </p:txBody>
      </p:sp>
      <p:sp>
        <p:nvSpPr>
          <p:cNvPr id="64" name="Google Shape;64;p16"/>
          <p:cNvSpPr/>
          <p:nvPr/>
        </p:nvSpPr>
        <p:spPr>
          <a:xfrm>
            <a:off x="609600" y="2794635"/>
            <a:ext cx="6376988" cy="5638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C9D3E3"/>
              </a:buClr>
              <a:buSzPts val="1700"/>
              <a:buFont typeface="Public Sans"/>
              <a:buNone/>
            </a:pPr>
            <a:r>
              <a:rPr b="0" i="0" lang="en" sz="1700" u="none" cap="none" strike="noStrike">
                <a:solidFill>
                  <a:srgbClr val="C9D3E3"/>
                </a:solidFill>
                <a:latin typeface="Public Sans"/>
                <a:ea typeface="Public Sans"/>
                <a:cs typeface="Public Sans"/>
                <a:sym typeface="Public Sans"/>
              </a:rPr>
              <a:t>Do Premier League teams really earn their goals, or do they just get lucky?</a:t>
            </a:r>
            <a:endParaRPr b="0" i="0" sz="1700" u="none" cap="none" strike="noStrike">
              <a:solidFill>
                <a:schemeClr val="dk1"/>
              </a:solidFill>
              <a:latin typeface="Public Sans"/>
              <a:ea typeface="Public Sans"/>
              <a:cs typeface="Public Sans"/>
              <a:sym typeface="Public Sans"/>
            </a:endParaRPr>
          </a:p>
        </p:txBody>
      </p:sp>
      <p:sp>
        <p:nvSpPr>
          <p:cNvPr id="65" name="Google Shape;65;p16"/>
          <p:cNvSpPr/>
          <p:nvPr/>
        </p:nvSpPr>
        <p:spPr>
          <a:xfrm>
            <a:off x="609600" y="3529965"/>
            <a:ext cx="8162544" cy="2324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3E3"/>
              </a:buClr>
              <a:buSzPts val="1200"/>
              <a:buFont typeface="Public Sans"/>
              <a:buNone/>
            </a:pPr>
            <a:r>
              <a:rPr lang="en" sz="1200">
                <a:solidFill>
                  <a:srgbClr val="C9D3E3"/>
                </a:solidFill>
                <a:latin typeface="Public Sans"/>
                <a:ea typeface="Public Sans"/>
                <a:cs typeface="Public Sans"/>
                <a:sym typeface="Public Sans"/>
              </a:rPr>
              <a:t>Kameron Moss, Prashant Aryal</a:t>
            </a:r>
            <a:endParaRPr b="0" i="0" sz="12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70" name="Shape 70"/>
        <p:cNvGrpSpPr/>
        <p:nvPr/>
      </p:nvGrpSpPr>
      <p:grpSpPr>
        <a:xfrm>
          <a:off x="0" y="0"/>
          <a:ext cx="0" cy="0"/>
          <a:chOff x="0" y="0"/>
          <a:chExt cx="0" cy="0"/>
        </a:xfrm>
      </p:grpSpPr>
      <p:sp>
        <p:nvSpPr>
          <p:cNvPr id="71" name="Google Shape;71;p17"/>
          <p:cNvSpPr/>
          <p:nvPr/>
        </p:nvSpPr>
        <p:spPr>
          <a:xfrm>
            <a:off x="609600" y="609600"/>
            <a:ext cx="8162544"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900"/>
              <a:buFont typeface="Public Sans"/>
              <a:buNone/>
            </a:pPr>
            <a:r>
              <a:rPr b="1" i="0" lang="en" sz="900" u="none" cap="none" strike="noStrike">
                <a:solidFill>
                  <a:srgbClr val="9A4F0F"/>
                </a:solidFill>
                <a:latin typeface="Public Sans"/>
                <a:ea typeface="Public Sans"/>
                <a:cs typeface="Public Sans"/>
                <a:sym typeface="Public Sans"/>
              </a:rPr>
              <a:t>THE QUESTION</a:t>
            </a:r>
            <a:endParaRPr b="0" i="0" sz="900" u="none" cap="none" strike="noStrike">
              <a:solidFill>
                <a:schemeClr val="dk1"/>
              </a:solidFill>
              <a:latin typeface="Public Sans"/>
              <a:ea typeface="Public Sans"/>
              <a:cs typeface="Public Sans"/>
              <a:sym typeface="Public Sans"/>
            </a:endParaRPr>
          </a:p>
        </p:txBody>
      </p:sp>
      <p:sp>
        <p:nvSpPr>
          <p:cNvPr id="72" name="Google Shape;72;p17"/>
          <p:cNvSpPr txBox="1"/>
          <p:nvPr>
            <p:ph type="title"/>
          </p:nvPr>
        </p:nvSpPr>
        <p:spPr>
          <a:xfrm>
            <a:off x="609600" y="998220"/>
            <a:ext cx="8162544" cy="3962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2700"/>
              <a:buFont typeface="Oswald"/>
              <a:buNone/>
            </a:pPr>
            <a:r>
              <a:rPr b="1" i="0" lang="en" sz="2700">
                <a:solidFill>
                  <a:srgbClr val="14213D"/>
                </a:solidFill>
                <a:latin typeface="Oswald"/>
                <a:ea typeface="Oswald"/>
                <a:cs typeface="Oswald"/>
                <a:sym typeface="Oswald"/>
              </a:rPr>
              <a:t>If a team beats its xG, is it skill or luck?</a:t>
            </a:r>
            <a:endParaRPr sz="2700"/>
          </a:p>
        </p:txBody>
      </p:sp>
      <p:sp>
        <p:nvSpPr>
          <p:cNvPr id="73" name="Google Shape;73;p17"/>
          <p:cNvSpPr/>
          <p:nvPr/>
        </p:nvSpPr>
        <p:spPr>
          <a:xfrm>
            <a:off x="609600" y="1604010"/>
            <a:ext cx="7358062" cy="563880"/>
          </a:xfrm>
          <a:prstGeom prst="rect">
            <a:avLst/>
          </a:prstGeom>
          <a:noFill/>
          <a:ln>
            <a:noFill/>
          </a:ln>
        </p:spPr>
        <p:txBody>
          <a:bodyPr anchorCtr="0" anchor="t" bIns="0" lIns="0" spcFirstLastPara="1" rIns="0" wrap="square" tIns="0">
            <a:noAutofit/>
          </a:bodyPr>
          <a:lstStyle/>
          <a:p>
            <a:pPr indent="0" lvl="0" marL="0" marR="0" rtl="0" algn="l">
              <a:lnSpc>
                <a:spcPct val="130000"/>
              </a:lnSpc>
              <a:spcBef>
                <a:spcPts val="0"/>
              </a:spcBef>
              <a:spcAft>
                <a:spcPts val="0"/>
              </a:spcAft>
              <a:buClr>
                <a:srgbClr val="14213D"/>
              </a:buClr>
              <a:buSzPts val="1700"/>
              <a:buFont typeface="Public Sans"/>
              <a:buNone/>
            </a:pPr>
            <a:r>
              <a:rPr b="1" i="0" lang="en" sz="1700" u="none" cap="none" strike="noStrike">
                <a:solidFill>
                  <a:srgbClr val="14213D"/>
                </a:solidFill>
                <a:latin typeface="Public Sans"/>
                <a:ea typeface="Public Sans"/>
                <a:cs typeface="Public Sans"/>
                <a:sym typeface="Public Sans"/>
              </a:rPr>
              <a:t>xG (expected goals)</a:t>
            </a:r>
            <a:r>
              <a:rPr b="0" i="0" lang="en" sz="1700" u="none" cap="none" strike="noStrike">
                <a:solidFill>
                  <a:srgbClr val="4A5568"/>
                </a:solidFill>
                <a:latin typeface="Public Sans"/>
                <a:ea typeface="Public Sans"/>
                <a:cs typeface="Public Sans"/>
                <a:sym typeface="Public Sans"/>
              </a:rPr>
              <a:t> = how many goals a team </a:t>
            </a:r>
            <a:r>
              <a:rPr b="0" i="1" lang="en" sz="1700" u="none" cap="none" strike="noStrike">
                <a:solidFill>
                  <a:srgbClr val="4A5568"/>
                </a:solidFill>
                <a:latin typeface="Public Sans"/>
                <a:ea typeface="Public Sans"/>
                <a:cs typeface="Public Sans"/>
                <a:sym typeface="Public Sans"/>
              </a:rPr>
              <a:t>should</a:t>
            </a:r>
            <a:r>
              <a:rPr b="0" i="0" lang="en" sz="1700" u="none" cap="none" strike="noStrike">
                <a:solidFill>
                  <a:srgbClr val="4A5568"/>
                </a:solidFill>
                <a:latin typeface="Public Sans"/>
                <a:ea typeface="Public Sans"/>
                <a:cs typeface="Public Sans"/>
                <a:sym typeface="Public Sans"/>
              </a:rPr>
              <a:t> have scored from its chances. Luck shouldn't repeat next season. Skill should.</a:t>
            </a:r>
            <a:endParaRPr b="0" i="0" sz="1700" u="none" cap="none" strike="noStrike">
              <a:solidFill>
                <a:schemeClr val="dk1"/>
              </a:solidFill>
              <a:latin typeface="Public Sans"/>
              <a:ea typeface="Public Sans"/>
              <a:cs typeface="Public Sans"/>
              <a:sym typeface="Public Sans"/>
            </a:endParaRPr>
          </a:p>
        </p:txBody>
      </p:sp>
      <p:sp>
        <p:nvSpPr>
          <p:cNvPr id="74" name="Google Shape;74;p17"/>
          <p:cNvSpPr/>
          <p:nvPr/>
        </p:nvSpPr>
        <p:spPr>
          <a:xfrm>
            <a:off x="611981" y="3381851"/>
            <a:ext cx="2535198" cy="997268"/>
          </a:xfrm>
          <a:prstGeom prst="roundRect">
            <a:avLst>
              <a:gd fmla="val 7402" name="adj"/>
            </a:avLst>
          </a:prstGeom>
          <a:solidFill>
            <a:srgbClr val="FBFBF8"/>
          </a:solidFill>
          <a:ln cap="flat" cmpd="sng" w="9525">
            <a:solidFill>
              <a:srgbClr val="DED9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5" name="Google Shape;75;p17"/>
          <p:cNvSpPr/>
          <p:nvPr/>
        </p:nvSpPr>
        <p:spPr>
          <a:xfrm>
            <a:off x="803910" y="3573780"/>
            <a:ext cx="2215880"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200"/>
              <a:buFont typeface="Public Sans"/>
              <a:buNone/>
            </a:pPr>
            <a:r>
              <a:rPr b="1" i="0" lang="en" sz="1200" u="none" cap="none" strike="noStrike">
                <a:solidFill>
                  <a:srgbClr val="14213D"/>
                </a:solidFill>
                <a:latin typeface="Public Sans"/>
                <a:ea typeface="Public Sans"/>
                <a:cs typeface="Public Sans"/>
                <a:sym typeface="Public Sans"/>
              </a:rPr>
              <a:t>Clubs &amp; scouts</a:t>
            </a:r>
            <a:endParaRPr b="0" i="0" sz="1200" u="none" cap="none" strike="noStrike">
              <a:solidFill>
                <a:schemeClr val="dk1"/>
              </a:solidFill>
              <a:latin typeface="Public Sans"/>
              <a:ea typeface="Public Sans"/>
              <a:cs typeface="Public Sans"/>
              <a:sym typeface="Public Sans"/>
            </a:endParaRPr>
          </a:p>
        </p:txBody>
      </p:sp>
      <p:sp>
        <p:nvSpPr>
          <p:cNvPr id="76" name="Google Shape;76;p17"/>
          <p:cNvSpPr/>
          <p:nvPr/>
        </p:nvSpPr>
        <p:spPr>
          <a:xfrm>
            <a:off x="803910" y="3813810"/>
            <a:ext cx="2215880" cy="392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100"/>
              <a:buFont typeface="Public Sans"/>
              <a:buNone/>
            </a:pPr>
            <a:r>
              <a:rPr b="0" i="0" lang="en" sz="1100" u="none" cap="none" strike="noStrike">
                <a:solidFill>
                  <a:srgbClr val="4A5568"/>
                </a:solidFill>
                <a:latin typeface="Public Sans"/>
                <a:ea typeface="Public Sans"/>
                <a:cs typeface="Public Sans"/>
                <a:sym typeface="Public Sans"/>
              </a:rPr>
              <a:t>Don't pay big money for one lucky season.</a:t>
            </a:r>
            <a:endParaRPr b="0" i="0" sz="1100" u="none" cap="none" strike="noStrike">
              <a:solidFill>
                <a:schemeClr val="dk1"/>
              </a:solidFill>
              <a:latin typeface="Public Sans"/>
              <a:ea typeface="Public Sans"/>
              <a:cs typeface="Public Sans"/>
              <a:sym typeface="Public Sans"/>
            </a:endParaRPr>
          </a:p>
        </p:txBody>
      </p:sp>
      <p:sp>
        <p:nvSpPr>
          <p:cNvPr id="77" name="Google Shape;77;p17"/>
          <p:cNvSpPr/>
          <p:nvPr/>
        </p:nvSpPr>
        <p:spPr>
          <a:xfrm>
            <a:off x="3304342" y="3381851"/>
            <a:ext cx="2535257" cy="997268"/>
          </a:xfrm>
          <a:prstGeom prst="roundRect">
            <a:avLst>
              <a:gd fmla="val 7402" name="adj"/>
            </a:avLst>
          </a:prstGeom>
          <a:solidFill>
            <a:srgbClr val="FBFBF8"/>
          </a:solidFill>
          <a:ln cap="flat" cmpd="sng" w="9525">
            <a:solidFill>
              <a:srgbClr val="DED9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78" name="Google Shape;78;p17"/>
          <p:cNvSpPr/>
          <p:nvPr/>
        </p:nvSpPr>
        <p:spPr>
          <a:xfrm>
            <a:off x="3496271" y="3573780"/>
            <a:ext cx="2215942"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200"/>
              <a:buFont typeface="Public Sans"/>
              <a:buNone/>
            </a:pPr>
            <a:r>
              <a:rPr b="1" i="0" lang="en" sz="1200" u="none" cap="none" strike="noStrike">
                <a:solidFill>
                  <a:srgbClr val="14213D"/>
                </a:solidFill>
                <a:latin typeface="Public Sans"/>
                <a:ea typeface="Public Sans"/>
                <a:cs typeface="Public Sans"/>
                <a:sym typeface="Public Sans"/>
              </a:rPr>
              <a:t>Fans &amp; pundits</a:t>
            </a:r>
            <a:endParaRPr b="0" i="0" sz="1200" u="none" cap="none" strike="noStrike">
              <a:solidFill>
                <a:schemeClr val="dk1"/>
              </a:solidFill>
              <a:latin typeface="Public Sans"/>
              <a:ea typeface="Public Sans"/>
              <a:cs typeface="Public Sans"/>
              <a:sym typeface="Public Sans"/>
            </a:endParaRPr>
          </a:p>
        </p:txBody>
      </p:sp>
      <p:sp>
        <p:nvSpPr>
          <p:cNvPr id="79" name="Google Shape;79;p17"/>
          <p:cNvSpPr/>
          <p:nvPr/>
        </p:nvSpPr>
        <p:spPr>
          <a:xfrm>
            <a:off x="3496271" y="3813810"/>
            <a:ext cx="2215942" cy="392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100"/>
              <a:buFont typeface="Public Sans"/>
              <a:buNone/>
            </a:pPr>
            <a:r>
              <a:rPr b="0" i="0" lang="en" sz="1100" u="none" cap="none" strike="noStrike">
                <a:solidFill>
                  <a:srgbClr val="4A5568"/>
                </a:solidFill>
                <a:latin typeface="Public Sans"/>
                <a:ea typeface="Public Sans"/>
                <a:cs typeface="Public Sans"/>
                <a:sym typeface="Public Sans"/>
              </a:rPr>
              <a:t>Know if your team's hot streak will last.</a:t>
            </a:r>
            <a:endParaRPr b="0" i="0" sz="1100" u="none" cap="none" strike="noStrike">
              <a:solidFill>
                <a:schemeClr val="dk1"/>
              </a:solidFill>
              <a:latin typeface="Public Sans"/>
              <a:ea typeface="Public Sans"/>
              <a:cs typeface="Public Sans"/>
              <a:sym typeface="Public Sans"/>
            </a:endParaRPr>
          </a:p>
        </p:txBody>
      </p:sp>
      <p:sp>
        <p:nvSpPr>
          <p:cNvPr id="80" name="Google Shape;80;p17"/>
          <p:cNvSpPr/>
          <p:nvPr/>
        </p:nvSpPr>
        <p:spPr>
          <a:xfrm>
            <a:off x="5996762" y="3381851"/>
            <a:ext cx="2535257" cy="997268"/>
          </a:xfrm>
          <a:prstGeom prst="roundRect">
            <a:avLst>
              <a:gd fmla="val 7402" name="adj"/>
            </a:avLst>
          </a:prstGeom>
          <a:solidFill>
            <a:srgbClr val="FBFBF8"/>
          </a:solidFill>
          <a:ln cap="flat" cmpd="sng" w="9525">
            <a:solidFill>
              <a:srgbClr val="DED9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81" name="Google Shape;81;p17"/>
          <p:cNvSpPr/>
          <p:nvPr/>
        </p:nvSpPr>
        <p:spPr>
          <a:xfrm>
            <a:off x="6188690" y="3573780"/>
            <a:ext cx="2215942"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200"/>
              <a:buFont typeface="Public Sans"/>
              <a:buNone/>
            </a:pPr>
            <a:r>
              <a:rPr b="1" i="0" lang="en" sz="1200" u="none" cap="none" strike="noStrike">
                <a:solidFill>
                  <a:srgbClr val="14213D"/>
                </a:solidFill>
                <a:latin typeface="Public Sans"/>
                <a:ea typeface="Public Sans"/>
                <a:cs typeface="Public Sans"/>
                <a:sym typeface="Public Sans"/>
              </a:rPr>
              <a:t>Analysts</a:t>
            </a:r>
            <a:endParaRPr b="0" i="0" sz="1200" u="none" cap="none" strike="noStrike">
              <a:solidFill>
                <a:schemeClr val="dk1"/>
              </a:solidFill>
              <a:latin typeface="Public Sans"/>
              <a:ea typeface="Public Sans"/>
              <a:cs typeface="Public Sans"/>
              <a:sym typeface="Public Sans"/>
            </a:endParaRPr>
          </a:p>
        </p:txBody>
      </p:sp>
      <p:sp>
        <p:nvSpPr>
          <p:cNvPr id="82" name="Google Shape;82;p17"/>
          <p:cNvSpPr/>
          <p:nvPr/>
        </p:nvSpPr>
        <p:spPr>
          <a:xfrm>
            <a:off x="6188690" y="3813810"/>
            <a:ext cx="2215942" cy="392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100"/>
              <a:buFont typeface="Public Sans"/>
              <a:buNone/>
            </a:pPr>
            <a:r>
              <a:rPr b="0" i="0" lang="en" sz="1100" u="none" cap="none" strike="noStrike">
                <a:solidFill>
                  <a:srgbClr val="4A5568"/>
                </a:solidFill>
                <a:latin typeface="Public Sans"/>
                <a:ea typeface="Public Sans"/>
                <a:cs typeface="Public Sans"/>
                <a:sym typeface="Public Sans"/>
              </a:rPr>
              <a:t>Pick better numbers to predict results.</a:t>
            </a:r>
            <a:endParaRPr b="0" i="0" sz="1100" u="none" cap="none" strike="noStrike">
              <a:solidFill>
                <a:schemeClr val="dk1"/>
              </a:solidFill>
              <a:latin typeface="Public Sans"/>
              <a:ea typeface="Public Sans"/>
              <a:cs typeface="Public Sans"/>
              <a:sym typeface="Public Sans"/>
            </a:endParaRPr>
          </a:p>
        </p:txBody>
      </p:sp>
      <p:sp>
        <p:nvSpPr>
          <p:cNvPr id="83" name="Google Shape;83;p17"/>
          <p:cNvSpPr/>
          <p:nvPr/>
        </p:nvSpPr>
        <p:spPr>
          <a:xfrm>
            <a:off x="609600" y="4678681"/>
            <a:ext cx="106263"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900"/>
              <a:buFont typeface="Public Sans"/>
              <a:buNone/>
            </a:pPr>
            <a:r>
              <a:rPr b="0" i="0" lang="en" sz="900" u="none" cap="none" strike="noStrike">
                <a:solidFill>
                  <a:srgbClr val="6A7179"/>
                </a:solidFill>
                <a:latin typeface="Public Sans"/>
                <a:ea typeface="Public Sans"/>
                <a:cs typeface="Public Sans"/>
                <a:sym typeface="Public Sans"/>
              </a:rPr>
              <a:t>2</a:t>
            </a:r>
            <a:endParaRPr b="0" i="0" sz="9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88" name="Shape 88"/>
        <p:cNvGrpSpPr/>
        <p:nvPr/>
      </p:nvGrpSpPr>
      <p:grpSpPr>
        <a:xfrm>
          <a:off x="0" y="0"/>
          <a:ext cx="0" cy="0"/>
          <a:chOff x="0" y="0"/>
          <a:chExt cx="0" cy="0"/>
        </a:xfrm>
      </p:grpSpPr>
      <p:sp>
        <p:nvSpPr>
          <p:cNvPr id="89" name="Google Shape;89;p18"/>
          <p:cNvSpPr/>
          <p:nvPr/>
        </p:nvSpPr>
        <p:spPr>
          <a:xfrm>
            <a:off x="609600" y="609600"/>
            <a:ext cx="8162544"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900"/>
              <a:buFont typeface="Public Sans"/>
              <a:buNone/>
            </a:pPr>
            <a:r>
              <a:rPr b="1" i="0" lang="en" sz="900" u="none" cap="none" strike="noStrike">
                <a:solidFill>
                  <a:srgbClr val="9A4F0F"/>
                </a:solidFill>
                <a:latin typeface="Public Sans"/>
                <a:ea typeface="Public Sans"/>
                <a:cs typeface="Public Sans"/>
                <a:sym typeface="Public Sans"/>
              </a:rPr>
              <a:t>THE DATA</a:t>
            </a:r>
            <a:endParaRPr b="0" i="0" sz="900" u="none" cap="none" strike="noStrike">
              <a:solidFill>
                <a:schemeClr val="dk1"/>
              </a:solidFill>
              <a:latin typeface="Public Sans"/>
              <a:ea typeface="Public Sans"/>
              <a:cs typeface="Public Sans"/>
              <a:sym typeface="Public Sans"/>
            </a:endParaRPr>
          </a:p>
        </p:txBody>
      </p:sp>
      <p:sp>
        <p:nvSpPr>
          <p:cNvPr id="90" name="Google Shape;90;p18"/>
          <p:cNvSpPr txBox="1"/>
          <p:nvPr>
            <p:ph type="title"/>
          </p:nvPr>
        </p:nvSpPr>
        <p:spPr>
          <a:xfrm>
            <a:off x="609600" y="998221"/>
            <a:ext cx="8162544" cy="3962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2700"/>
              <a:buFont typeface="Oswald"/>
              <a:buNone/>
            </a:pPr>
            <a:r>
              <a:rPr b="1" i="0" lang="en" sz="2700">
                <a:solidFill>
                  <a:srgbClr val="14213D"/>
                </a:solidFill>
                <a:latin typeface="Oswald"/>
                <a:ea typeface="Oswald"/>
                <a:cs typeface="Oswald"/>
                <a:sym typeface="Oswald"/>
              </a:rPr>
              <a:t>Every Premier League game since 2013-14</a:t>
            </a:r>
            <a:endParaRPr sz="2700"/>
          </a:p>
        </p:txBody>
      </p:sp>
      <p:sp>
        <p:nvSpPr>
          <p:cNvPr id="91" name="Google Shape;91;p18"/>
          <p:cNvSpPr/>
          <p:nvPr/>
        </p:nvSpPr>
        <p:spPr>
          <a:xfrm>
            <a:off x="609600" y="1604010"/>
            <a:ext cx="2616159"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4500"/>
              <a:buFont typeface="Oswald"/>
              <a:buNone/>
            </a:pPr>
            <a:r>
              <a:rPr b="1" i="0" lang="en" sz="4500" u="none" cap="none" strike="noStrike">
                <a:solidFill>
                  <a:srgbClr val="14213D"/>
                </a:solidFill>
                <a:latin typeface="Oswald"/>
                <a:ea typeface="Oswald"/>
                <a:cs typeface="Oswald"/>
                <a:sym typeface="Oswald"/>
              </a:rPr>
              <a:t>13</a:t>
            </a:r>
            <a:endParaRPr b="0" i="0" sz="4500" u="none" cap="none" strike="noStrike">
              <a:solidFill>
                <a:schemeClr val="dk1"/>
              </a:solidFill>
              <a:latin typeface="Public Sans"/>
              <a:ea typeface="Public Sans"/>
              <a:cs typeface="Public Sans"/>
              <a:sym typeface="Public Sans"/>
            </a:endParaRPr>
          </a:p>
        </p:txBody>
      </p:sp>
      <p:sp>
        <p:nvSpPr>
          <p:cNvPr id="92" name="Google Shape;92;p18"/>
          <p:cNvSpPr/>
          <p:nvPr/>
        </p:nvSpPr>
        <p:spPr>
          <a:xfrm>
            <a:off x="609600" y="2270760"/>
            <a:ext cx="2616159" cy="2324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Public Sans"/>
              <a:buNone/>
            </a:pPr>
            <a:r>
              <a:rPr b="0" i="0" lang="en" sz="1200" u="none" cap="none" strike="noStrike">
                <a:solidFill>
                  <a:srgbClr val="4A5568"/>
                </a:solidFill>
                <a:latin typeface="Public Sans"/>
                <a:ea typeface="Public Sans"/>
                <a:cs typeface="Public Sans"/>
                <a:sym typeface="Public Sans"/>
              </a:rPr>
              <a:t>seasons</a:t>
            </a:r>
            <a:endParaRPr b="0" i="0" sz="1200" u="none" cap="none" strike="noStrike">
              <a:solidFill>
                <a:schemeClr val="dk1"/>
              </a:solidFill>
              <a:latin typeface="Public Sans"/>
              <a:ea typeface="Public Sans"/>
              <a:cs typeface="Public Sans"/>
              <a:sym typeface="Public Sans"/>
            </a:endParaRPr>
          </a:p>
        </p:txBody>
      </p:sp>
      <p:sp>
        <p:nvSpPr>
          <p:cNvPr id="93" name="Google Shape;93;p18"/>
          <p:cNvSpPr/>
          <p:nvPr/>
        </p:nvSpPr>
        <p:spPr>
          <a:xfrm>
            <a:off x="3301960" y="1604010"/>
            <a:ext cx="2616221"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4500"/>
              <a:buFont typeface="Oswald"/>
              <a:buNone/>
            </a:pPr>
            <a:r>
              <a:rPr b="1" i="0" lang="en" sz="4500" u="none" cap="none" strike="noStrike">
                <a:solidFill>
                  <a:srgbClr val="14213D"/>
                </a:solidFill>
                <a:latin typeface="Oswald"/>
                <a:ea typeface="Oswald"/>
                <a:cs typeface="Oswald"/>
                <a:sym typeface="Oswald"/>
              </a:rPr>
              <a:t>4,940</a:t>
            </a:r>
            <a:endParaRPr b="0" i="0" sz="4500" u="none" cap="none" strike="noStrike">
              <a:solidFill>
                <a:schemeClr val="dk1"/>
              </a:solidFill>
              <a:latin typeface="Public Sans"/>
              <a:ea typeface="Public Sans"/>
              <a:cs typeface="Public Sans"/>
              <a:sym typeface="Public Sans"/>
            </a:endParaRPr>
          </a:p>
        </p:txBody>
      </p:sp>
      <p:sp>
        <p:nvSpPr>
          <p:cNvPr id="94" name="Google Shape;94;p18"/>
          <p:cNvSpPr/>
          <p:nvPr/>
        </p:nvSpPr>
        <p:spPr>
          <a:xfrm>
            <a:off x="3301960" y="2270760"/>
            <a:ext cx="2616221" cy="2324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Public Sans"/>
              <a:buNone/>
            </a:pPr>
            <a:r>
              <a:rPr b="0" i="0" lang="en" sz="1200" u="none" cap="none" strike="noStrike">
                <a:solidFill>
                  <a:srgbClr val="4A5568"/>
                </a:solidFill>
                <a:latin typeface="Public Sans"/>
                <a:ea typeface="Public Sans"/>
                <a:cs typeface="Public Sans"/>
                <a:sym typeface="Public Sans"/>
              </a:rPr>
              <a:t>games</a:t>
            </a:r>
            <a:endParaRPr b="0" i="0" sz="1200" u="none" cap="none" strike="noStrike">
              <a:solidFill>
                <a:schemeClr val="dk1"/>
              </a:solidFill>
              <a:latin typeface="Public Sans"/>
              <a:ea typeface="Public Sans"/>
              <a:cs typeface="Public Sans"/>
              <a:sym typeface="Public Sans"/>
            </a:endParaRPr>
          </a:p>
        </p:txBody>
      </p:sp>
      <p:sp>
        <p:nvSpPr>
          <p:cNvPr id="95" name="Google Shape;95;p18"/>
          <p:cNvSpPr/>
          <p:nvPr/>
        </p:nvSpPr>
        <p:spPr>
          <a:xfrm>
            <a:off x="5994380" y="1604010"/>
            <a:ext cx="2616221"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4500"/>
              <a:buFont typeface="Oswald"/>
              <a:buNone/>
            </a:pPr>
            <a:r>
              <a:rPr b="1" i="0" lang="en" sz="4500" u="none" cap="none" strike="noStrike">
                <a:solidFill>
                  <a:srgbClr val="14213D"/>
                </a:solidFill>
                <a:latin typeface="Oswald"/>
                <a:ea typeface="Oswald"/>
                <a:cs typeface="Oswald"/>
                <a:sym typeface="Oswald"/>
              </a:rPr>
              <a:t>0.32</a:t>
            </a:r>
            <a:endParaRPr b="0" i="0" sz="4500" u="none" cap="none" strike="noStrike">
              <a:solidFill>
                <a:schemeClr val="dk1"/>
              </a:solidFill>
              <a:latin typeface="Public Sans"/>
              <a:ea typeface="Public Sans"/>
              <a:cs typeface="Public Sans"/>
              <a:sym typeface="Public Sans"/>
            </a:endParaRPr>
          </a:p>
        </p:txBody>
      </p:sp>
      <p:sp>
        <p:nvSpPr>
          <p:cNvPr id="96" name="Google Shape;96;p18"/>
          <p:cNvSpPr/>
          <p:nvPr/>
        </p:nvSpPr>
        <p:spPr>
          <a:xfrm>
            <a:off x="5994380" y="2270760"/>
            <a:ext cx="2616221" cy="2324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Public Sans"/>
              <a:buNone/>
            </a:pPr>
            <a:r>
              <a:rPr b="0" i="0" lang="en" sz="1200" u="none" cap="none" strike="noStrike">
                <a:solidFill>
                  <a:srgbClr val="4A5568"/>
                </a:solidFill>
                <a:latin typeface="Public Sans"/>
                <a:ea typeface="Public Sans"/>
                <a:cs typeface="Public Sans"/>
                <a:sym typeface="Public Sans"/>
              </a:rPr>
              <a:t>goals per shot on target</a:t>
            </a:r>
            <a:endParaRPr b="0" i="0" sz="1200" u="none" cap="none" strike="noStrike">
              <a:solidFill>
                <a:schemeClr val="dk1"/>
              </a:solidFill>
              <a:latin typeface="Public Sans"/>
              <a:ea typeface="Public Sans"/>
              <a:cs typeface="Public Sans"/>
              <a:sym typeface="Public Sans"/>
            </a:endParaRPr>
          </a:p>
        </p:txBody>
      </p:sp>
      <p:sp>
        <p:nvSpPr>
          <p:cNvPr id="97" name="Google Shape;97;p18"/>
          <p:cNvSpPr/>
          <p:nvPr/>
        </p:nvSpPr>
        <p:spPr>
          <a:xfrm>
            <a:off x="609600" y="3649981"/>
            <a:ext cx="7924800" cy="731520"/>
          </a:xfrm>
          <a:prstGeom prst="roundRect">
            <a:avLst>
              <a:gd fmla="val 5208" name="adj"/>
            </a:avLst>
          </a:prstGeom>
          <a:solidFill>
            <a:srgbClr val="FBFBF8"/>
          </a:solidFill>
          <a:ln>
            <a:noFill/>
          </a:ln>
        </p:spPr>
        <p:txBody>
          <a:bodyPr anchorCtr="0" anchor="t" bIns="122175" lIns="217425" spcFirstLastPara="1" rIns="0" wrap="square" tIns="141225">
            <a:noAutofit/>
          </a:bodyPr>
          <a:lstStyle/>
          <a:p>
            <a:pPr indent="0" lvl="0" marL="0" marR="0" rtl="0" algn="l">
              <a:lnSpc>
                <a:spcPct val="140000"/>
              </a:lnSpc>
              <a:spcBef>
                <a:spcPts val="0"/>
              </a:spcBef>
              <a:spcAft>
                <a:spcPts val="0"/>
              </a:spcAft>
              <a:buClr>
                <a:srgbClr val="4A5568"/>
              </a:buClr>
              <a:buSzPts val="1200"/>
              <a:buFont typeface="Public Sans"/>
              <a:buNone/>
            </a:pPr>
            <a:r>
              <a:rPr b="0" i="0" lang="en" sz="1200" u="none" cap="none" strike="noStrike">
                <a:solidFill>
                  <a:srgbClr val="4A5568"/>
                </a:solidFill>
                <a:latin typeface="Public Sans"/>
                <a:ea typeface="Public Sans"/>
                <a:cs typeface="Public Sans"/>
                <a:sym typeface="Public Sans"/>
              </a:rPr>
              <a:t>This didn't make sense at first: the site had </a:t>
            </a:r>
            <a:r>
              <a:rPr b="1" i="0" lang="en" sz="1200" u="none" cap="none" strike="noStrike">
                <a:solidFill>
                  <a:srgbClr val="14213D"/>
                </a:solidFill>
                <a:latin typeface="Public Sans"/>
                <a:ea typeface="Public Sans"/>
                <a:cs typeface="Public Sans"/>
                <a:sym typeface="Public Sans"/>
              </a:rPr>
              <a:t>no real xG</a:t>
            </a:r>
            <a:r>
              <a:rPr b="0" i="0" lang="en" sz="1200" u="none" cap="none" strike="noStrike">
                <a:solidFill>
                  <a:srgbClr val="4A5568"/>
                </a:solidFill>
                <a:latin typeface="Public Sans"/>
                <a:ea typeface="Public Sans"/>
                <a:cs typeface="Public Sans"/>
                <a:sym typeface="Public Sans"/>
              </a:rPr>
              <a:t>. So we built our own, where every shot on target is worth 0.32 goals.</a:t>
            </a:r>
            <a:endParaRPr b="0" i="0" sz="1200" u="none" cap="none" strike="noStrike">
              <a:solidFill>
                <a:schemeClr val="dk1"/>
              </a:solidFill>
              <a:latin typeface="Public Sans"/>
              <a:ea typeface="Public Sans"/>
              <a:cs typeface="Public Sans"/>
              <a:sym typeface="Public Sans"/>
            </a:endParaRPr>
          </a:p>
        </p:txBody>
      </p:sp>
      <p:sp>
        <p:nvSpPr>
          <p:cNvPr id="98" name="Google Shape;98;p18"/>
          <p:cNvSpPr/>
          <p:nvPr/>
        </p:nvSpPr>
        <p:spPr>
          <a:xfrm>
            <a:off x="609600" y="3649981"/>
            <a:ext cx="7924800" cy="731520"/>
          </a:xfrm>
          <a:custGeom>
            <a:rect b="b" l="l" r="r" t="t"/>
            <a:pathLst>
              <a:path extrusionOk="0" h="975360" w="10566400">
                <a:moveTo>
                  <a:pt x="50800" y="975360"/>
                </a:moveTo>
                <a:lnTo>
                  <a:pt x="50800" y="975360"/>
                </a:lnTo>
                <a:cubicBezTo>
                  <a:pt x="22744" y="975360"/>
                  <a:pt x="0" y="952616"/>
                  <a:pt x="0" y="924560"/>
                </a:cubicBezTo>
                <a:lnTo>
                  <a:pt x="0" y="50800"/>
                </a:lnTo>
                <a:cubicBezTo>
                  <a:pt x="0" y="22744"/>
                  <a:pt x="22744" y="0"/>
                  <a:pt x="50800" y="0"/>
                </a:cubicBezTo>
                <a:lnTo>
                  <a:pt x="50800" y="0"/>
                </a:lnTo>
                <a:lnTo>
                  <a:pt x="50800" y="975360"/>
                </a:lnTo>
                <a:close/>
              </a:path>
            </a:pathLst>
          </a:custGeom>
          <a:solidFill>
            <a:srgbClr val="E8A33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18"/>
          <p:cNvSpPr/>
          <p:nvPr/>
        </p:nvSpPr>
        <p:spPr>
          <a:xfrm>
            <a:off x="609600" y="4678681"/>
            <a:ext cx="1902238"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900"/>
              <a:buFont typeface="Public Sans"/>
              <a:buNone/>
            </a:pPr>
            <a:r>
              <a:rPr b="0" i="0" lang="en" sz="900" u="none" cap="none" strike="noStrike">
                <a:solidFill>
                  <a:srgbClr val="6A7179"/>
                </a:solidFill>
                <a:latin typeface="Public Sans"/>
                <a:ea typeface="Public Sans"/>
                <a:cs typeface="Public Sans"/>
                <a:sym typeface="Public Sans"/>
              </a:rPr>
              <a:t>3 · Source: football-data.co.uk</a:t>
            </a:r>
            <a:endParaRPr b="0" i="0" sz="9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04" name="Shape 104"/>
        <p:cNvGrpSpPr/>
        <p:nvPr/>
      </p:nvGrpSpPr>
      <p:grpSpPr>
        <a:xfrm>
          <a:off x="0" y="0"/>
          <a:ext cx="0" cy="0"/>
          <a:chOff x="0" y="0"/>
          <a:chExt cx="0" cy="0"/>
        </a:xfrm>
      </p:grpSpPr>
      <p:sp>
        <p:nvSpPr>
          <p:cNvPr id="105" name="Google Shape;105;p19"/>
          <p:cNvSpPr/>
          <p:nvPr/>
        </p:nvSpPr>
        <p:spPr>
          <a:xfrm>
            <a:off x="609600" y="609600"/>
            <a:ext cx="8162544"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900"/>
              <a:buFont typeface="Public Sans"/>
              <a:buNone/>
            </a:pPr>
            <a:r>
              <a:rPr b="1" i="0" lang="en" sz="900" u="none" cap="none" strike="noStrike">
                <a:solidFill>
                  <a:srgbClr val="9A4F0F"/>
                </a:solidFill>
                <a:latin typeface="Public Sans"/>
                <a:ea typeface="Public Sans"/>
                <a:cs typeface="Public Sans"/>
                <a:sym typeface="Public Sans"/>
              </a:rPr>
              <a:t>HOW WE GOT IT</a:t>
            </a:r>
            <a:endParaRPr b="0" i="0" sz="900" u="none" cap="none" strike="noStrike">
              <a:solidFill>
                <a:schemeClr val="dk1"/>
              </a:solidFill>
              <a:latin typeface="Public Sans"/>
              <a:ea typeface="Public Sans"/>
              <a:cs typeface="Public Sans"/>
              <a:sym typeface="Public Sans"/>
            </a:endParaRPr>
          </a:p>
        </p:txBody>
      </p:sp>
      <p:sp>
        <p:nvSpPr>
          <p:cNvPr id="106" name="Google Shape;106;p19"/>
          <p:cNvSpPr txBox="1"/>
          <p:nvPr>
            <p:ph type="title"/>
          </p:nvPr>
        </p:nvSpPr>
        <p:spPr>
          <a:xfrm>
            <a:off x="609600" y="960121"/>
            <a:ext cx="8162544" cy="3962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2700"/>
              <a:buFont typeface="Oswald"/>
              <a:buNone/>
            </a:pPr>
            <a:r>
              <a:rPr b="1" i="0" lang="en" sz="2700">
                <a:solidFill>
                  <a:srgbClr val="14213D"/>
                </a:solidFill>
                <a:latin typeface="Oswald"/>
                <a:ea typeface="Oswald"/>
                <a:cs typeface="Oswald"/>
                <a:sym typeface="Oswald"/>
              </a:rPr>
              <a:t>We scraped 26 seasons in one script</a:t>
            </a:r>
            <a:endParaRPr sz="2700"/>
          </a:p>
        </p:txBody>
      </p:sp>
      <p:sp>
        <p:nvSpPr>
          <p:cNvPr id="107" name="Google Shape;107;p19"/>
          <p:cNvSpPr/>
          <p:nvPr/>
        </p:nvSpPr>
        <p:spPr>
          <a:xfrm>
            <a:off x="611981" y="1610202"/>
            <a:ext cx="1690688" cy="1180147"/>
          </a:xfrm>
          <a:prstGeom prst="roundRect">
            <a:avLst>
              <a:gd fmla="val 6255" name="adj"/>
            </a:avLst>
          </a:prstGeom>
          <a:solidFill>
            <a:srgbClr val="FBFBF8"/>
          </a:solidFill>
          <a:ln cap="flat" cmpd="sng" w="9525">
            <a:solidFill>
              <a:srgbClr val="DED9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8" name="Google Shape;108;p19"/>
          <p:cNvSpPr/>
          <p:nvPr/>
        </p:nvSpPr>
        <p:spPr>
          <a:xfrm>
            <a:off x="765810" y="1764031"/>
            <a:ext cx="1424521" cy="3124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1700"/>
              <a:buFont typeface="Oswald"/>
              <a:buNone/>
            </a:pPr>
            <a:r>
              <a:rPr b="1" i="0" lang="en" sz="1700" u="none" cap="none" strike="noStrike">
                <a:solidFill>
                  <a:srgbClr val="9A4F0F"/>
                </a:solidFill>
                <a:latin typeface="Oswald"/>
                <a:ea typeface="Oswald"/>
                <a:cs typeface="Oswald"/>
                <a:sym typeface="Oswald"/>
              </a:rPr>
              <a:t>1</a:t>
            </a:r>
            <a:endParaRPr b="0" i="0" sz="1700" u="none" cap="none" strike="noStrike">
              <a:solidFill>
                <a:schemeClr val="dk1"/>
              </a:solidFill>
              <a:latin typeface="Public Sans"/>
              <a:ea typeface="Public Sans"/>
              <a:cs typeface="Public Sans"/>
              <a:sym typeface="Public Sans"/>
            </a:endParaRPr>
          </a:p>
        </p:txBody>
      </p:sp>
      <p:sp>
        <p:nvSpPr>
          <p:cNvPr id="109" name="Google Shape;109;p19"/>
          <p:cNvSpPr/>
          <p:nvPr/>
        </p:nvSpPr>
        <p:spPr>
          <a:xfrm>
            <a:off x="765810" y="2095500"/>
            <a:ext cx="1424521"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200"/>
              <a:buFont typeface="Public Sans"/>
              <a:buNone/>
            </a:pPr>
            <a:r>
              <a:rPr b="1" i="0" lang="en" sz="1200" u="none" cap="none" strike="noStrike">
                <a:solidFill>
                  <a:srgbClr val="14213D"/>
                </a:solidFill>
                <a:latin typeface="Public Sans"/>
                <a:ea typeface="Public Sans"/>
                <a:cs typeface="Public Sans"/>
                <a:sym typeface="Public Sans"/>
              </a:rPr>
              <a:t>Read the index</a:t>
            </a:r>
            <a:endParaRPr b="0" i="0" sz="1200" u="none" cap="none" strike="noStrike">
              <a:solidFill>
                <a:schemeClr val="dk1"/>
              </a:solidFill>
              <a:latin typeface="Public Sans"/>
              <a:ea typeface="Public Sans"/>
              <a:cs typeface="Public Sans"/>
              <a:sym typeface="Public Sans"/>
            </a:endParaRPr>
          </a:p>
        </p:txBody>
      </p:sp>
      <p:sp>
        <p:nvSpPr>
          <p:cNvPr id="110" name="Google Shape;110;p19"/>
          <p:cNvSpPr/>
          <p:nvPr/>
        </p:nvSpPr>
        <p:spPr>
          <a:xfrm>
            <a:off x="765810" y="2316481"/>
            <a:ext cx="1424521" cy="339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900"/>
              <a:buFont typeface="Public Sans"/>
              <a:buNone/>
            </a:pPr>
            <a:r>
              <a:rPr b="0" i="0" lang="en" sz="900" u="none" cap="none" strike="noStrike">
                <a:solidFill>
                  <a:srgbClr val="4A5568"/>
                </a:solidFill>
                <a:latin typeface="Public Sans"/>
                <a:ea typeface="Public Sans"/>
                <a:cs typeface="Public Sans"/>
                <a:sym typeface="Public Sans"/>
              </a:rPr>
              <a:t>requests loads the site's England results page</a:t>
            </a:r>
            <a:endParaRPr b="0" i="0" sz="900" u="none" cap="none" strike="noStrike">
              <a:solidFill>
                <a:schemeClr val="dk1"/>
              </a:solidFill>
              <a:latin typeface="Public Sans"/>
              <a:ea typeface="Public Sans"/>
              <a:cs typeface="Public Sans"/>
              <a:sym typeface="Public Sans"/>
            </a:endParaRPr>
          </a:p>
        </p:txBody>
      </p:sp>
      <p:pic>
        <p:nvPicPr>
          <p:cNvPr descr="connector" id="111" name="Google Shape;111;p19"/>
          <p:cNvPicPr preferRelativeResize="0"/>
          <p:nvPr/>
        </p:nvPicPr>
        <p:blipFill rotWithShape="1">
          <a:blip r:embed="rId3">
            <a:alphaModFix/>
          </a:blip>
          <a:srcRect b="0" l="0" r="0" t="0"/>
          <a:stretch/>
        </p:blipFill>
        <p:spPr>
          <a:xfrm>
            <a:off x="2381250" y="2152650"/>
            <a:ext cx="228600" cy="95250"/>
          </a:xfrm>
          <a:prstGeom prst="rect">
            <a:avLst/>
          </a:prstGeom>
          <a:noFill/>
          <a:ln>
            <a:noFill/>
          </a:ln>
        </p:spPr>
      </p:pic>
      <p:sp>
        <p:nvSpPr>
          <p:cNvPr id="112" name="Google Shape;112;p19"/>
          <p:cNvSpPr/>
          <p:nvPr/>
        </p:nvSpPr>
        <p:spPr>
          <a:xfrm>
            <a:off x="2688431" y="1610202"/>
            <a:ext cx="1690688" cy="1180147"/>
          </a:xfrm>
          <a:prstGeom prst="roundRect">
            <a:avLst>
              <a:gd fmla="val 6255" name="adj"/>
            </a:avLst>
          </a:prstGeom>
          <a:solidFill>
            <a:srgbClr val="FBFBF8"/>
          </a:solidFill>
          <a:ln cap="flat" cmpd="sng" w="9525">
            <a:solidFill>
              <a:srgbClr val="DED9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 name="Google Shape;113;p19"/>
          <p:cNvSpPr/>
          <p:nvPr/>
        </p:nvSpPr>
        <p:spPr>
          <a:xfrm>
            <a:off x="2842260" y="1764031"/>
            <a:ext cx="1424521" cy="3124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1700"/>
              <a:buFont typeface="Oswald"/>
              <a:buNone/>
            </a:pPr>
            <a:r>
              <a:rPr b="1" i="0" lang="en" sz="1700" u="none" cap="none" strike="noStrike">
                <a:solidFill>
                  <a:srgbClr val="9A4F0F"/>
                </a:solidFill>
                <a:latin typeface="Oswald"/>
                <a:ea typeface="Oswald"/>
                <a:cs typeface="Oswald"/>
                <a:sym typeface="Oswald"/>
              </a:rPr>
              <a:t>2</a:t>
            </a:r>
            <a:endParaRPr b="0" i="0" sz="1700" u="none" cap="none" strike="noStrike">
              <a:solidFill>
                <a:schemeClr val="dk1"/>
              </a:solidFill>
              <a:latin typeface="Public Sans"/>
              <a:ea typeface="Public Sans"/>
              <a:cs typeface="Public Sans"/>
              <a:sym typeface="Public Sans"/>
            </a:endParaRPr>
          </a:p>
        </p:txBody>
      </p:sp>
      <p:sp>
        <p:nvSpPr>
          <p:cNvPr id="114" name="Google Shape;114;p19"/>
          <p:cNvSpPr/>
          <p:nvPr/>
        </p:nvSpPr>
        <p:spPr>
          <a:xfrm>
            <a:off x="2842260" y="2095500"/>
            <a:ext cx="1424521"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200"/>
              <a:buFont typeface="Public Sans"/>
              <a:buNone/>
            </a:pPr>
            <a:r>
              <a:rPr b="1" i="0" lang="en" sz="1200" u="none" cap="none" strike="noStrike">
                <a:solidFill>
                  <a:srgbClr val="14213D"/>
                </a:solidFill>
                <a:latin typeface="Public Sans"/>
                <a:ea typeface="Public Sans"/>
                <a:cs typeface="Public Sans"/>
                <a:sym typeface="Public Sans"/>
              </a:rPr>
              <a:t>Find the files</a:t>
            </a:r>
            <a:endParaRPr b="0" i="0" sz="1200" u="none" cap="none" strike="noStrike">
              <a:solidFill>
                <a:schemeClr val="dk1"/>
              </a:solidFill>
              <a:latin typeface="Public Sans"/>
              <a:ea typeface="Public Sans"/>
              <a:cs typeface="Public Sans"/>
              <a:sym typeface="Public Sans"/>
            </a:endParaRPr>
          </a:p>
        </p:txBody>
      </p:sp>
      <p:sp>
        <p:nvSpPr>
          <p:cNvPr id="115" name="Google Shape;115;p19"/>
          <p:cNvSpPr/>
          <p:nvPr/>
        </p:nvSpPr>
        <p:spPr>
          <a:xfrm>
            <a:off x="2842260" y="2316481"/>
            <a:ext cx="1424521" cy="33909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900"/>
              <a:buFont typeface="Public Sans"/>
              <a:buNone/>
            </a:pPr>
            <a:r>
              <a:rPr b="0" i="0" lang="en" sz="900" u="none" cap="none" strike="noStrike">
                <a:solidFill>
                  <a:srgbClr val="4A5568"/>
                </a:solidFill>
                <a:latin typeface="Public Sans"/>
                <a:ea typeface="Public Sans"/>
                <a:cs typeface="Public Sans"/>
                <a:sym typeface="Public Sans"/>
              </a:rPr>
              <a:t>BeautifulSoup pulls every Premier League CSV link</a:t>
            </a:r>
            <a:endParaRPr b="0" i="0" sz="900" u="none" cap="none" strike="noStrike">
              <a:solidFill>
                <a:schemeClr val="dk1"/>
              </a:solidFill>
              <a:latin typeface="Public Sans"/>
              <a:ea typeface="Public Sans"/>
              <a:cs typeface="Public Sans"/>
              <a:sym typeface="Public Sans"/>
            </a:endParaRPr>
          </a:p>
        </p:txBody>
      </p:sp>
      <p:pic>
        <p:nvPicPr>
          <p:cNvPr descr="connector" id="116" name="Google Shape;116;p19"/>
          <p:cNvPicPr preferRelativeResize="0"/>
          <p:nvPr/>
        </p:nvPicPr>
        <p:blipFill rotWithShape="1">
          <a:blip r:embed="rId3">
            <a:alphaModFix/>
          </a:blip>
          <a:srcRect b="0" l="0" r="0" t="0"/>
          <a:stretch/>
        </p:blipFill>
        <p:spPr>
          <a:xfrm>
            <a:off x="4457700" y="2152650"/>
            <a:ext cx="228600" cy="95250"/>
          </a:xfrm>
          <a:prstGeom prst="rect">
            <a:avLst/>
          </a:prstGeom>
          <a:noFill/>
          <a:ln>
            <a:noFill/>
          </a:ln>
        </p:spPr>
      </p:pic>
      <p:sp>
        <p:nvSpPr>
          <p:cNvPr id="117" name="Google Shape;117;p19"/>
          <p:cNvSpPr/>
          <p:nvPr/>
        </p:nvSpPr>
        <p:spPr>
          <a:xfrm>
            <a:off x="4764881" y="1530191"/>
            <a:ext cx="1690688" cy="1340168"/>
          </a:xfrm>
          <a:prstGeom prst="roundRect">
            <a:avLst>
              <a:gd fmla="val 5508" name="adj"/>
            </a:avLst>
          </a:prstGeom>
          <a:solidFill>
            <a:srgbClr val="FBFBF8"/>
          </a:solidFill>
          <a:ln cap="flat" cmpd="sng" w="9525">
            <a:solidFill>
              <a:srgbClr val="DED9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8" name="Google Shape;118;p19"/>
          <p:cNvSpPr/>
          <p:nvPr/>
        </p:nvSpPr>
        <p:spPr>
          <a:xfrm>
            <a:off x="4918710" y="1684021"/>
            <a:ext cx="1424521" cy="3124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1700"/>
              <a:buFont typeface="Oswald"/>
              <a:buNone/>
            </a:pPr>
            <a:r>
              <a:rPr b="1" i="0" lang="en" sz="1700" u="none" cap="none" strike="noStrike">
                <a:solidFill>
                  <a:srgbClr val="9A4F0F"/>
                </a:solidFill>
                <a:latin typeface="Oswald"/>
                <a:ea typeface="Oswald"/>
                <a:cs typeface="Oswald"/>
                <a:sym typeface="Oswald"/>
              </a:rPr>
              <a:t>3</a:t>
            </a:r>
            <a:endParaRPr b="0" i="0" sz="1700" u="none" cap="none" strike="noStrike">
              <a:solidFill>
                <a:schemeClr val="dk1"/>
              </a:solidFill>
              <a:latin typeface="Public Sans"/>
              <a:ea typeface="Public Sans"/>
              <a:cs typeface="Public Sans"/>
              <a:sym typeface="Public Sans"/>
            </a:endParaRPr>
          </a:p>
        </p:txBody>
      </p:sp>
      <p:sp>
        <p:nvSpPr>
          <p:cNvPr id="119" name="Google Shape;119;p19"/>
          <p:cNvSpPr/>
          <p:nvPr/>
        </p:nvSpPr>
        <p:spPr>
          <a:xfrm>
            <a:off x="4918710" y="2015490"/>
            <a:ext cx="1424521"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200"/>
              <a:buFont typeface="Public Sans"/>
              <a:buNone/>
            </a:pPr>
            <a:r>
              <a:rPr b="1" i="0" lang="en" sz="1200" u="none" cap="none" strike="noStrike">
                <a:solidFill>
                  <a:srgbClr val="14213D"/>
                </a:solidFill>
                <a:latin typeface="Public Sans"/>
                <a:ea typeface="Public Sans"/>
                <a:cs typeface="Public Sans"/>
                <a:sym typeface="Public Sans"/>
              </a:rPr>
              <a:t>Download politely</a:t>
            </a:r>
            <a:endParaRPr b="0" i="0" sz="1200" u="none" cap="none" strike="noStrike">
              <a:solidFill>
                <a:schemeClr val="dk1"/>
              </a:solidFill>
              <a:latin typeface="Public Sans"/>
              <a:ea typeface="Public Sans"/>
              <a:cs typeface="Public Sans"/>
              <a:sym typeface="Public Sans"/>
            </a:endParaRPr>
          </a:p>
        </p:txBody>
      </p:sp>
      <p:sp>
        <p:nvSpPr>
          <p:cNvPr id="120" name="Google Shape;120;p19"/>
          <p:cNvSpPr/>
          <p:nvPr/>
        </p:nvSpPr>
        <p:spPr>
          <a:xfrm>
            <a:off x="4918710" y="2236471"/>
            <a:ext cx="1424521" cy="4991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900"/>
              <a:buFont typeface="Public Sans"/>
              <a:buNone/>
            </a:pPr>
            <a:r>
              <a:rPr b="0" i="0" lang="en" sz="900" u="none" cap="none" strike="noStrike">
                <a:solidFill>
                  <a:srgbClr val="4A5568"/>
                </a:solidFill>
                <a:latin typeface="Public Sans"/>
                <a:ea typeface="Public Sans"/>
                <a:cs typeface="Public Sans"/>
                <a:sym typeface="Public Sans"/>
              </a:rPr>
              <a:t>1-second pause per file, labeled as a student project</a:t>
            </a:r>
            <a:endParaRPr b="0" i="0" sz="900" u="none" cap="none" strike="noStrike">
              <a:solidFill>
                <a:schemeClr val="dk1"/>
              </a:solidFill>
              <a:latin typeface="Public Sans"/>
              <a:ea typeface="Public Sans"/>
              <a:cs typeface="Public Sans"/>
              <a:sym typeface="Public Sans"/>
            </a:endParaRPr>
          </a:p>
        </p:txBody>
      </p:sp>
      <p:pic>
        <p:nvPicPr>
          <p:cNvPr descr="connector" id="121" name="Google Shape;121;p19"/>
          <p:cNvPicPr preferRelativeResize="0"/>
          <p:nvPr/>
        </p:nvPicPr>
        <p:blipFill rotWithShape="1">
          <a:blip r:embed="rId3">
            <a:alphaModFix/>
          </a:blip>
          <a:srcRect b="0" l="0" r="0" t="0"/>
          <a:stretch/>
        </p:blipFill>
        <p:spPr>
          <a:xfrm>
            <a:off x="6534150" y="2152650"/>
            <a:ext cx="228600" cy="95250"/>
          </a:xfrm>
          <a:prstGeom prst="rect">
            <a:avLst/>
          </a:prstGeom>
          <a:noFill/>
          <a:ln>
            <a:noFill/>
          </a:ln>
        </p:spPr>
      </p:pic>
      <p:sp>
        <p:nvSpPr>
          <p:cNvPr id="122" name="Google Shape;122;p19"/>
          <p:cNvSpPr/>
          <p:nvPr/>
        </p:nvSpPr>
        <p:spPr>
          <a:xfrm>
            <a:off x="6841331" y="1530191"/>
            <a:ext cx="1690688" cy="1340168"/>
          </a:xfrm>
          <a:prstGeom prst="roundRect">
            <a:avLst>
              <a:gd fmla="val 5508" name="adj"/>
            </a:avLst>
          </a:prstGeom>
          <a:solidFill>
            <a:srgbClr val="FBFBF8"/>
          </a:solidFill>
          <a:ln cap="flat" cmpd="sng" w="9525">
            <a:solidFill>
              <a:srgbClr val="DED9CC"/>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3" name="Google Shape;123;p19"/>
          <p:cNvSpPr/>
          <p:nvPr/>
        </p:nvSpPr>
        <p:spPr>
          <a:xfrm>
            <a:off x="6995160" y="1684021"/>
            <a:ext cx="1424521" cy="3124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1700"/>
              <a:buFont typeface="Oswald"/>
              <a:buNone/>
            </a:pPr>
            <a:r>
              <a:rPr b="1" i="0" lang="en" sz="1700" u="none" cap="none" strike="noStrike">
                <a:solidFill>
                  <a:srgbClr val="9A4F0F"/>
                </a:solidFill>
                <a:latin typeface="Oswald"/>
                <a:ea typeface="Oswald"/>
                <a:cs typeface="Oswald"/>
                <a:sym typeface="Oswald"/>
              </a:rPr>
              <a:t>4</a:t>
            </a:r>
            <a:endParaRPr b="0" i="0" sz="1700" u="none" cap="none" strike="noStrike">
              <a:solidFill>
                <a:schemeClr val="dk1"/>
              </a:solidFill>
              <a:latin typeface="Public Sans"/>
              <a:ea typeface="Public Sans"/>
              <a:cs typeface="Public Sans"/>
              <a:sym typeface="Public Sans"/>
            </a:endParaRPr>
          </a:p>
        </p:txBody>
      </p:sp>
      <p:sp>
        <p:nvSpPr>
          <p:cNvPr id="124" name="Google Shape;124;p19"/>
          <p:cNvSpPr/>
          <p:nvPr/>
        </p:nvSpPr>
        <p:spPr>
          <a:xfrm>
            <a:off x="6995160" y="2015490"/>
            <a:ext cx="1424521"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200"/>
              <a:buFont typeface="Public Sans"/>
              <a:buNone/>
            </a:pPr>
            <a:r>
              <a:rPr b="1" i="0" lang="en" sz="1200" u="none" cap="none" strike="noStrike">
                <a:solidFill>
                  <a:srgbClr val="14213D"/>
                </a:solidFill>
                <a:latin typeface="Public Sans"/>
                <a:ea typeface="Public Sans"/>
                <a:cs typeface="Public Sans"/>
                <a:sym typeface="Public Sans"/>
              </a:rPr>
              <a:t>Combine &amp; save</a:t>
            </a:r>
            <a:endParaRPr b="0" i="0" sz="1200" u="none" cap="none" strike="noStrike">
              <a:solidFill>
                <a:schemeClr val="dk1"/>
              </a:solidFill>
              <a:latin typeface="Public Sans"/>
              <a:ea typeface="Public Sans"/>
              <a:cs typeface="Public Sans"/>
              <a:sym typeface="Public Sans"/>
            </a:endParaRPr>
          </a:p>
        </p:txBody>
      </p:sp>
      <p:sp>
        <p:nvSpPr>
          <p:cNvPr id="125" name="Google Shape;125;p19"/>
          <p:cNvSpPr/>
          <p:nvPr/>
        </p:nvSpPr>
        <p:spPr>
          <a:xfrm>
            <a:off x="6995160" y="2236471"/>
            <a:ext cx="1424521" cy="4991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900"/>
              <a:buFont typeface="Public Sans"/>
              <a:buNone/>
            </a:pPr>
            <a:r>
              <a:rPr b="0" i="0" lang="en" sz="900" u="none" cap="none" strike="noStrike">
                <a:solidFill>
                  <a:srgbClr val="4A5568"/>
                </a:solidFill>
                <a:latin typeface="Public Sans"/>
                <a:ea typeface="Public Sans"/>
                <a:cs typeface="Public Sans"/>
                <a:sym typeface="Public Sans"/>
              </a:rPr>
              <a:t>9,880 games cached to one CSV so we scrape once</a:t>
            </a:r>
            <a:endParaRPr b="0" i="0" sz="900" u="none" cap="none" strike="noStrike">
              <a:solidFill>
                <a:schemeClr val="dk1"/>
              </a:solidFill>
              <a:latin typeface="Public Sans"/>
              <a:ea typeface="Public Sans"/>
              <a:cs typeface="Public Sans"/>
              <a:sym typeface="Public Sans"/>
            </a:endParaRPr>
          </a:p>
        </p:txBody>
      </p:sp>
      <p:sp>
        <p:nvSpPr>
          <p:cNvPr id="126" name="Google Shape;126;p19"/>
          <p:cNvSpPr/>
          <p:nvPr/>
        </p:nvSpPr>
        <p:spPr>
          <a:xfrm>
            <a:off x="609600" y="3288031"/>
            <a:ext cx="7924800" cy="1093470"/>
          </a:xfrm>
          <a:prstGeom prst="roundRect">
            <a:avLst>
              <a:gd fmla="val 3484" name="adj"/>
            </a:avLst>
          </a:prstGeom>
          <a:solidFill>
            <a:srgbClr val="FBFBF8"/>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7" name="Google Shape;127;p19"/>
          <p:cNvSpPr/>
          <p:nvPr/>
        </p:nvSpPr>
        <p:spPr>
          <a:xfrm>
            <a:off x="609600" y="3288031"/>
            <a:ext cx="7924800" cy="1093470"/>
          </a:xfrm>
          <a:custGeom>
            <a:rect b="b" l="l" r="r" t="t"/>
            <a:pathLst>
              <a:path extrusionOk="0" h="1457960" w="10566400">
                <a:moveTo>
                  <a:pt x="50800" y="1457960"/>
                </a:moveTo>
                <a:lnTo>
                  <a:pt x="50800" y="1457960"/>
                </a:lnTo>
                <a:cubicBezTo>
                  <a:pt x="22744" y="1457960"/>
                  <a:pt x="0" y="1435216"/>
                  <a:pt x="0" y="1407160"/>
                </a:cubicBezTo>
                <a:lnTo>
                  <a:pt x="0" y="50800"/>
                </a:lnTo>
                <a:cubicBezTo>
                  <a:pt x="0" y="22744"/>
                  <a:pt x="22744" y="0"/>
                  <a:pt x="50800" y="0"/>
                </a:cubicBezTo>
                <a:lnTo>
                  <a:pt x="50800" y="0"/>
                </a:lnTo>
                <a:lnTo>
                  <a:pt x="50800" y="1457960"/>
                </a:lnTo>
                <a:close/>
              </a:path>
            </a:pathLst>
          </a:custGeom>
          <a:solidFill>
            <a:srgbClr val="E8A33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8" name="Google Shape;128;p19"/>
          <p:cNvSpPr/>
          <p:nvPr/>
        </p:nvSpPr>
        <p:spPr>
          <a:xfrm>
            <a:off x="838200" y="3440431"/>
            <a:ext cx="7730871" cy="17907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14213D"/>
              </a:buClr>
              <a:buSzPts val="1100"/>
              <a:buFont typeface="Public Sans"/>
              <a:buNone/>
            </a:pPr>
            <a:r>
              <a:rPr b="1" i="0" lang="en" sz="1100" u="none" cap="none" strike="noStrike">
                <a:solidFill>
                  <a:srgbClr val="14213D"/>
                </a:solidFill>
                <a:latin typeface="Public Sans"/>
                <a:ea typeface="Public Sans"/>
                <a:cs typeface="Public Sans"/>
                <a:sym typeface="Public Sans"/>
              </a:rPr>
              <a:t>Sources</a:t>
            </a:r>
            <a:endParaRPr b="0" i="0" sz="1100" u="none" cap="none" strike="noStrike">
              <a:solidFill>
                <a:schemeClr val="dk1"/>
              </a:solidFill>
              <a:latin typeface="Public Sans"/>
              <a:ea typeface="Public Sans"/>
              <a:cs typeface="Public Sans"/>
              <a:sym typeface="Public Sans"/>
            </a:endParaRPr>
          </a:p>
        </p:txBody>
      </p:sp>
      <p:sp>
        <p:nvSpPr>
          <p:cNvPr id="129" name="Google Shape;129;p19"/>
          <p:cNvSpPr/>
          <p:nvPr/>
        </p:nvSpPr>
        <p:spPr>
          <a:xfrm>
            <a:off x="838200" y="3638550"/>
            <a:ext cx="7730871" cy="190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4213D"/>
              </a:buClr>
              <a:buSzPts val="900"/>
              <a:buFont typeface="Public Sans"/>
              <a:buNone/>
            </a:pPr>
            <a:r>
              <a:rPr b="1" i="0" lang="en" sz="900" u="none" cap="none" strike="noStrike">
                <a:solidFill>
                  <a:srgbClr val="14213D"/>
                </a:solidFill>
                <a:latin typeface="Public Sans"/>
                <a:ea typeface="Public Sans"/>
                <a:cs typeface="Public Sans"/>
                <a:sym typeface="Public Sans"/>
              </a:rPr>
              <a:t>Data:</a:t>
            </a:r>
            <a:r>
              <a:rPr b="0" i="0" lang="en" sz="900" u="none" cap="none" strike="noStrike">
                <a:solidFill>
                  <a:srgbClr val="4A5568"/>
                </a:solidFill>
                <a:latin typeface="Public Sans"/>
                <a:ea typeface="Public Sans"/>
                <a:cs typeface="Public Sans"/>
                <a:sym typeface="Public Sans"/>
              </a:rPr>
              <a:t> Football-Data.co.uk, England football results — football-data.co.uk/englandm.php (seasons 2000-01 to 2025-26)</a:t>
            </a:r>
            <a:endParaRPr b="0" i="0" sz="900" u="none" cap="none" strike="noStrike">
              <a:solidFill>
                <a:schemeClr val="dk1"/>
              </a:solidFill>
              <a:latin typeface="Public Sans"/>
              <a:ea typeface="Public Sans"/>
              <a:cs typeface="Public Sans"/>
              <a:sym typeface="Public Sans"/>
            </a:endParaRPr>
          </a:p>
        </p:txBody>
      </p:sp>
      <p:sp>
        <p:nvSpPr>
          <p:cNvPr id="130" name="Google Shape;130;p19"/>
          <p:cNvSpPr/>
          <p:nvPr/>
        </p:nvSpPr>
        <p:spPr>
          <a:xfrm>
            <a:off x="838200" y="3848100"/>
            <a:ext cx="7730871" cy="190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4213D"/>
              </a:buClr>
              <a:buSzPts val="900"/>
              <a:buFont typeface="Public Sans"/>
              <a:buNone/>
            </a:pPr>
            <a:r>
              <a:rPr b="1" i="0" lang="en" sz="900" u="none" cap="none" strike="noStrike">
                <a:solidFill>
                  <a:srgbClr val="14213D"/>
                </a:solidFill>
                <a:latin typeface="Public Sans"/>
                <a:ea typeface="Public Sans"/>
                <a:cs typeface="Public Sans"/>
                <a:sym typeface="Public Sans"/>
              </a:rPr>
              <a:t>Tools:</a:t>
            </a:r>
            <a:r>
              <a:rPr b="0" i="0" lang="en" sz="900" u="none" cap="none" strike="noStrike">
                <a:solidFill>
                  <a:srgbClr val="4A5568"/>
                </a:solidFill>
                <a:latin typeface="Public Sans"/>
                <a:ea typeface="Public Sans"/>
                <a:cs typeface="Public Sans"/>
                <a:sym typeface="Public Sans"/>
              </a:rPr>
              <a:t> Python · requests · Beautiful Soup 4 (html5lib) · pandas</a:t>
            </a:r>
            <a:endParaRPr b="0" i="0" sz="900" u="none" cap="none" strike="noStrike">
              <a:solidFill>
                <a:schemeClr val="dk1"/>
              </a:solidFill>
              <a:latin typeface="Public Sans"/>
              <a:ea typeface="Public Sans"/>
              <a:cs typeface="Public Sans"/>
              <a:sym typeface="Public Sans"/>
            </a:endParaRPr>
          </a:p>
        </p:txBody>
      </p:sp>
      <p:sp>
        <p:nvSpPr>
          <p:cNvPr id="131" name="Google Shape;131;p19"/>
          <p:cNvSpPr/>
          <p:nvPr/>
        </p:nvSpPr>
        <p:spPr>
          <a:xfrm>
            <a:off x="838200" y="4057650"/>
            <a:ext cx="7730871" cy="1905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14213D"/>
              </a:buClr>
              <a:buSzPts val="900"/>
              <a:buFont typeface="Public Sans"/>
              <a:buNone/>
            </a:pPr>
            <a:r>
              <a:rPr b="1" i="0" lang="en" sz="900" u="none" cap="none" strike="noStrike">
                <a:solidFill>
                  <a:srgbClr val="14213D"/>
                </a:solidFill>
                <a:latin typeface="Public Sans"/>
                <a:ea typeface="Public Sans"/>
                <a:cs typeface="Public Sans"/>
                <a:sym typeface="Public Sans"/>
              </a:rPr>
              <a:t>Code:</a:t>
            </a:r>
            <a:r>
              <a:rPr b="0" i="0" lang="en" sz="900" u="none" cap="none" strike="noStrike">
                <a:solidFill>
                  <a:srgbClr val="4A5568"/>
                </a:solidFill>
                <a:latin typeface="Public Sans"/>
                <a:ea typeface="Public Sans"/>
                <a:cs typeface="Public Sans"/>
                <a:sym typeface="Public Sans"/>
              </a:rPr>
              <a:t> github.com/PrashantAryal/CS_5830_Project3</a:t>
            </a:r>
            <a:endParaRPr b="0" i="0" sz="900" u="none" cap="none" strike="noStrike">
              <a:solidFill>
                <a:schemeClr val="dk1"/>
              </a:solidFill>
              <a:latin typeface="Public Sans"/>
              <a:ea typeface="Public Sans"/>
              <a:cs typeface="Public Sans"/>
              <a:sym typeface="Public Sans"/>
            </a:endParaRPr>
          </a:p>
        </p:txBody>
      </p:sp>
      <p:sp>
        <p:nvSpPr>
          <p:cNvPr id="132" name="Google Shape;132;p19"/>
          <p:cNvSpPr/>
          <p:nvPr/>
        </p:nvSpPr>
        <p:spPr>
          <a:xfrm>
            <a:off x="609600" y="4678679"/>
            <a:ext cx="109955"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900"/>
              <a:buFont typeface="Public Sans"/>
              <a:buNone/>
            </a:pPr>
            <a:r>
              <a:rPr b="0" i="0" lang="en" sz="900" u="none" cap="none" strike="noStrike">
                <a:solidFill>
                  <a:srgbClr val="6A7179"/>
                </a:solidFill>
                <a:latin typeface="Public Sans"/>
                <a:ea typeface="Public Sans"/>
                <a:cs typeface="Public Sans"/>
                <a:sym typeface="Public Sans"/>
              </a:rPr>
              <a:t>4</a:t>
            </a:r>
            <a:endParaRPr b="0" i="0" sz="9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37" name="Shape 137"/>
        <p:cNvGrpSpPr/>
        <p:nvPr/>
      </p:nvGrpSpPr>
      <p:grpSpPr>
        <a:xfrm>
          <a:off x="0" y="0"/>
          <a:ext cx="0" cy="0"/>
          <a:chOff x="0" y="0"/>
          <a:chExt cx="0" cy="0"/>
        </a:xfrm>
      </p:grpSpPr>
      <p:sp>
        <p:nvSpPr>
          <p:cNvPr id="138" name="Google Shape;138;p20"/>
          <p:cNvSpPr/>
          <p:nvPr/>
        </p:nvSpPr>
        <p:spPr>
          <a:xfrm>
            <a:off x="609600" y="609600"/>
            <a:ext cx="8162544"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900"/>
              <a:buFont typeface="Public Sans"/>
              <a:buNone/>
            </a:pPr>
            <a:r>
              <a:rPr b="1" i="0" lang="en" sz="900" u="none" cap="none" strike="noStrike">
                <a:solidFill>
                  <a:srgbClr val="9A4F0F"/>
                </a:solidFill>
                <a:latin typeface="Public Sans"/>
                <a:ea typeface="Public Sans"/>
                <a:cs typeface="Public Sans"/>
                <a:sym typeface="Public Sans"/>
              </a:rPr>
              <a:t>FINDING 1</a:t>
            </a:r>
            <a:endParaRPr b="0" i="0" sz="900" u="none" cap="none" strike="noStrike">
              <a:solidFill>
                <a:schemeClr val="dk1"/>
              </a:solidFill>
              <a:latin typeface="Public Sans"/>
              <a:ea typeface="Public Sans"/>
              <a:cs typeface="Public Sans"/>
              <a:sym typeface="Public Sans"/>
            </a:endParaRPr>
          </a:p>
        </p:txBody>
      </p:sp>
      <p:sp>
        <p:nvSpPr>
          <p:cNvPr id="139" name="Google Shape;139;p20"/>
          <p:cNvSpPr txBox="1"/>
          <p:nvPr>
            <p:ph type="title"/>
          </p:nvPr>
        </p:nvSpPr>
        <p:spPr>
          <a:xfrm>
            <a:off x="609600" y="922021"/>
            <a:ext cx="8162544" cy="3962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2700"/>
              <a:buFont typeface="Oswald"/>
              <a:buNone/>
            </a:pPr>
            <a:r>
              <a:rPr b="1" i="0" lang="en" sz="2700">
                <a:solidFill>
                  <a:srgbClr val="14213D"/>
                </a:solidFill>
                <a:latin typeface="Oswald"/>
                <a:ea typeface="Oswald"/>
                <a:cs typeface="Oswald"/>
                <a:sym typeface="Oswald"/>
              </a:rPr>
              <a:t>Chances decide most of the table</a:t>
            </a:r>
            <a:endParaRPr sz="2700"/>
          </a:p>
        </p:txBody>
      </p:sp>
      <p:sp>
        <p:nvSpPr>
          <p:cNvPr id="140" name="Google Shape;140;p20"/>
          <p:cNvSpPr/>
          <p:nvPr/>
        </p:nvSpPr>
        <p:spPr>
          <a:xfrm>
            <a:off x="609600" y="1873567"/>
            <a:ext cx="5048250" cy="2085975"/>
          </a:xfrm>
          <a:prstGeom prst="roundRect">
            <a:avLst>
              <a:gd fmla="val 2740"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Scatter plots: season points vs xG difference (R2 0.80) and vs goal difference (R2 0.93)" id="141" name="Google Shape;141;p20"/>
          <p:cNvPicPr preferRelativeResize="0"/>
          <p:nvPr/>
        </p:nvPicPr>
        <p:blipFill rotWithShape="1">
          <a:blip r:embed="rId3">
            <a:alphaModFix/>
          </a:blip>
          <a:srcRect b="0" l="-72" r="-72" t="0"/>
          <a:stretch/>
        </p:blipFill>
        <p:spPr>
          <a:xfrm>
            <a:off x="609600" y="1873567"/>
            <a:ext cx="5048250" cy="2085975"/>
          </a:xfrm>
          <a:prstGeom prst="roundRect">
            <a:avLst>
              <a:gd fmla="val 2740" name="adj"/>
            </a:avLst>
          </a:prstGeom>
          <a:noFill/>
          <a:ln>
            <a:noFill/>
          </a:ln>
        </p:spPr>
      </p:pic>
      <p:sp>
        <p:nvSpPr>
          <p:cNvPr id="142" name="Google Shape;142;p20"/>
          <p:cNvSpPr/>
          <p:nvPr/>
        </p:nvSpPr>
        <p:spPr>
          <a:xfrm>
            <a:off x="5962650" y="2145029"/>
            <a:ext cx="2648902"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4500"/>
              <a:buFont typeface="Oswald"/>
              <a:buNone/>
            </a:pPr>
            <a:r>
              <a:rPr b="1" i="0" lang="en" sz="4500" u="none" cap="none" strike="noStrike">
                <a:solidFill>
                  <a:srgbClr val="14213D"/>
                </a:solidFill>
                <a:latin typeface="Oswald"/>
                <a:ea typeface="Oswald"/>
                <a:cs typeface="Oswald"/>
                <a:sym typeface="Oswald"/>
              </a:rPr>
              <a:t>80%</a:t>
            </a:r>
            <a:endParaRPr b="0" i="0" sz="4500" u="none" cap="none" strike="noStrike">
              <a:solidFill>
                <a:schemeClr val="dk1"/>
              </a:solidFill>
              <a:latin typeface="Public Sans"/>
              <a:ea typeface="Public Sans"/>
              <a:cs typeface="Public Sans"/>
              <a:sym typeface="Public Sans"/>
            </a:endParaRPr>
          </a:p>
        </p:txBody>
      </p:sp>
      <p:sp>
        <p:nvSpPr>
          <p:cNvPr id="143" name="Google Shape;143;p20"/>
          <p:cNvSpPr/>
          <p:nvPr/>
        </p:nvSpPr>
        <p:spPr>
          <a:xfrm>
            <a:off x="5962650" y="2830829"/>
            <a:ext cx="2648902" cy="4457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Public Sans"/>
              <a:buNone/>
            </a:pPr>
            <a:r>
              <a:rPr b="0" i="0" lang="en" sz="1200" u="none" cap="none" strike="noStrike">
                <a:solidFill>
                  <a:srgbClr val="4A5568"/>
                </a:solidFill>
                <a:latin typeface="Public Sans"/>
                <a:ea typeface="Public Sans"/>
                <a:cs typeface="Public Sans"/>
                <a:sym typeface="Public Sans"/>
              </a:rPr>
              <a:t>of a team's points are explained by the chances it creates and allows.</a:t>
            </a:r>
            <a:endParaRPr b="0" i="0" sz="1200" u="none" cap="none" strike="noStrike">
              <a:solidFill>
                <a:schemeClr val="dk1"/>
              </a:solidFill>
              <a:latin typeface="Public Sans"/>
              <a:ea typeface="Public Sans"/>
              <a:cs typeface="Public Sans"/>
              <a:sym typeface="Public Sans"/>
            </a:endParaRPr>
          </a:p>
        </p:txBody>
      </p:sp>
      <p:sp>
        <p:nvSpPr>
          <p:cNvPr id="144" name="Google Shape;144;p20"/>
          <p:cNvSpPr/>
          <p:nvPr/>
        </p:nvSpPr>
        <p:spPr>
          <a:xfrm>
            <a:off x="5962650" y="3314700"/>
            <a:ext cx="2648902" cy="392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100"/>
              <a:buFont typeface="Public Sans"/>
              <a:buNone/>
            </a:pPr>
            <a:r>
              <a:rPr b="0" i="0" lang="en" sz="1100" u="none" cap="none" strike="noStrike">
                <a:solidFill>
                  <a:srgbClr val="4A5568"/>
                </a:solidFill>
                <a:latin typeface="Public Sans"/>
                <a:ea typeface="Public Sans"/>
                <a:cs typeface="Public Sans"/>
                <a:sym typeface="Public Sans"/>
              </a:rPr>
              <a:t>Actual goals explain 93%, so finishing still matters a little.</a:t>
            </a:r>
            <a:endParaRPr b="0" i="0" sz="1100" u="none" cap="none" strike="noStrike">
              <a:solidFill>
                <a:schemeClr val="dk1"/>
              </a:solidFill>
              <a:latin typeface="Public Sans"/>
              <a:ea typeface="Public Sans"/>
              <a:cs typeface="Public Sans"/>
              <a:sym typeface="Public Sans"/>
            </a:endParaRPr>
          </a:p>
        </p:txBody>
      </p:sp>
      <p:sp>
        <p:nvSpPr>
          <p:cNvPr id="145" name="Google Shape;145;p20"/>
          <p:cNvSpPr/>
          <p:nvPr/>
        </p:nvSpPr>
        <p:spPr>
          <a:xfrm>
            <a:off x="609600" y="4678679"/>
            <a:ext cx="1359884"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900"/>
              <a:buFont typeface="Public Sans"/>
              <a:buNone/>
            </a:pPr>
            <a:r>
              <a:rPr b="0" i="0" lang="en" sz="900" u="none" cap="none" strike="noStrike">
                <a:solidFill>
                  <a:srgbClr val="6A7179"/>
                </a:solidFill>
                <a:latin typeface="Public Sans"/>
                <a:ea typeface="Public Sans"/>
                <a:cs typeface="Public Sans"/>
                <a:sym typeface="Public Sans"/>
              </a:rPr>
              <a:t>5 · 260 team-seasons</a:t>
            </a:r>
            <a:endParaRPr b="0" i="0" sz="9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50" name="Shape 150"/>
        <p:cNvGrpSpPr/>
        <p:nvPr/>
      </p:nvGrpSpPr>
      <p:grpSpPr>
        <a:xfrm>
          <a:off x="0" y="0"/>
          <a:ext cx="0" cy="0"/>
          <a:chOff x="0" y="0"/>
          <a:chExt cx="0" cy="0"/>
        </a:xfrm>
      </p:grpSpPr>
      <p:sp>
        <p:nvSpPr>
          <p:cNvPr id="151" name="Google Shape;151;p21"/>
          <p:cNvSpPr/>
          <p:nvPr/>
        </p:nvSpPr>
        <p:spPr>
          <a:xfrm>
            <a:off x="609600" y="609600"/>
            <a:ext cx="8162544"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900"/>
              <a:buFont typeface="Public Sans"/>
              <a:buNone/>
            </a:pPr>
            <a:r>
              <a:rPr b="1" i="0" lang="en" sz="900" u="none" cap="none" strike="noStrike">
                <a:solidFill>
                  <a:srgbClr val="9A4F0F"/>
                </a:solidFill>
                <a:latin typeface="Public Sans"/>
                <a:ea typeface="Public Sans"/>
                <a:cs typeface="Public Sans"/>
                <a:sym typeface="Public Sans"/>
              </a:rPr>
              <a:t>FINDING 2</a:t>
            </a:r>
            <a:endParaRPr b="0" i="0" sz="900" u="none" cap="none" strike="noStrike">
              <a:solidFill>
                <a:schemeClr val="dk1"/>
              </a:solidFill>
              <a:latin typeface="Public Sans"/>
              <a:ea typeface="Public Sans"/>
              <a:cs typeface="Public Sans"/>
              <a:sym typeface="Public Sans"/>
            </a:endParaRPr>
          </a:p>
        </p:txBody>
      </p:sp>
      <p:sp>
        <p:nvSpPr>
          <p:cNvPr id="152" name="Google Shape;152;p21"/>
          <p:cNvSpPr txBox="1"/>
          <p:nvPr>
            <p:ph type="title"/>
          </p:nvPr>
        </p:nvSpPr>
        <p:spPr>
          <a:xfrm>
            <a:off x="609600" y="922021"/>
            <a:ext cx="8162544" cy="3962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2700"/>
              <a:buFont typeface="Oswald"/>
              <a:buNone/>
            </a:pPr>
            <a:r>
              <a:rPr b="1" i="0" lang="en" sz="2700">
                <a:solidFill>
                  <a:srgbClr val="14213D"/>
                </a:solidFill>
                <a:latin typeface="Oswald"/>
                <a:ea typeface="Oswald"/>
                <a:cs typeface="Oswald"/>
                <a:sym typeface="Oswald"/>
              </a:rPr>
              <a:t>Some teams are way off their xG</a:t>
            </a:r>
            <a:endParaRPr sz="2700"/>
          </a:p>
        </p:txBody>
      </p:sp>
      <p:sp>
        <p:nvSpPr>
          <p:cNvPr id="153" name="Google Shape;153;p21"/>
          <p:cNvSpPr/>
          <p:nvPr/>
        </p:nvSpPr>
        <p:spPr>
          <a:xfrm>
            <a:off x="609600" y="1578292"/>
            <a:ext cx="4095750" cy="2676525"/>
          </a:xfrm>
          <a:prstGeom prst="roundRect">
            <a:avLst>
              <a:gd fmla="val 2135"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Top 5 over- and under-performers with bootstrap 95% confidence intervals; Man City 2013-14 +25.9, Norwich 2013-14 -18.7" id="154" name="Google Shape;154;p21"/>
          <p:cNvPicPr preferRelativeResize="0"/>
          <p:nvPr/>
        </p:nvPicPr>
        <p:blipFill rotWithShape="1">
          <a:blip r:embed="rId3">
            <a:alphaModFix/>
          </a:blip>
          <a:srcRect b="0" l="-187" r="-187" t="0"/>
          <a:stretch/>
        </p:blipFill>
        <p:spPr>
          <a:xfrm>
            <a:off x="609600" y="1578292"/>
            <a:ext cx="4095750" cy="2676525"/>
          </a:xfrm>
          <a:prstGeom prst="roundRect">
            <a:avLst>
              <a:gd fmla="val 2135" name="adj"/>
            </a:avLst>
          </a:prstGeom>
          <a:noFill/>
          <a:ln>
            <a:noFill/>
          </a:ln>
        </p:spPr>
      </p:pic>
      <p:sp>
        <p:nvSpPr>
          <p:cNvPr id="155" name="Google Shape;155;p21"/>
          <p:cNvSpPr/>
          <p:nvPr/>
        </p:nvSpPr>
        <p:spPr>
          <a:xfrm>
            <a:off x="5010150" y="2238375"/>
            <a:ext cx="3629977"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4500"/>
              <a:buFont typeface="Oswald"/>
              <a:buNone/>
            </a:pPr>
            <a:r>
              <a:rPr b="1" i="0" lang="en" sz="4500" u="none" cap="none" strike="noStrike">
                <a:solidFill>
                  <a:srgbClr val="14213D"/>
                </a:solidFill>
                <a:latin typeface="Oswald"/>
                <a:ea typeface="Oswald"/>
                <a:cs typeface="Oswald"/>
                <a:sym typeface="Oswald"/>
              </a:rPr>
              <a:t>15%</a:t>
            </a:r>
            <a:endParaRPr b="0" i="0" sz="4500" u="none" cap="none" strike="noStrike">
              <a:solidFill>
                <a:schemeClr val="dk1"/>
              </a:solidFill>
              <a:latin typeface="Public Sans"/>
              <a:ea typeface="Public Sans"/>
              <a:cs typeface="Public Sans"/>
              <a:sym typeface="Public Sans"/>
            </a:endParaRPr>
          </a:p>
        </p:txBody>
      </p:sp>
      <p:sp>
        <p:nvSpPr>
          <p:cNvPr id="156" name="Google Shape;156;p21"/>
          <p:cNvSpPr/>
          <p:nvPr/>
        </p:nvSpPr>
        <p:spPr>
          <a:xfrm>
            <a:off x="5010150" y="2924175"/>
            <a:ext cx="3629977" cy="4457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Public Sans"/>
              <a:buNone/>
            </a:pPr>
            <a:r>
              <a:rPr b="0" i="0" lang="en" sz="1200" u="none" cap="none" strike="noStrike">
                <a:solidFill>
                  <a:srgbClr val="4A5568"/>
                </a:solidFill>
                <a:latin typeface="Public Sans"/>
                <a:ea typeface="Public Sans"/>
                <a:cs typeface="Public Sans"/>
                <a:sym typeface="Public Sans"/>
              </a:rPr>
              <a:t>of team-seasons were off by more than luck explains. Luck alone would give about 5%.</a:t>
            </a:r>
            <a:endParaRPr b="0" i="0" sz="1200" u="none" cap="none" strike="noStrike">
              <a:solidFill>
                <a:schemeClr val="dk1"/>
              </a:solidFill>
              <a:latin typeface="Public Sans"/>
              <a:ea typeface="Public Sans"/>
              <a:cs typeface="Public Sans"/>
              <a:sym typeface="Public Sans"/>
            </a:endParaRPr>
          </a:p>
        </p:txBody>
      </p:sp>
      <p:sp>
        <p:nvSpPr>
          <p:cNvPr id="157" name="Google Shape;157;p21"/>
          <p:cNvSpPr/>
          <p:nvPr/>
        </p:nvSpPr>
        <p:spPr>
          <a:xfrm>
            <a:off x="5010150" y="3408046"/>
            <a:ext cx="3629977" cy="2057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100"/>
              <a:buFont typeface="Public Sans"/>
              <a:buNone/>
            </a:pPr>
            <a:r>
              <a:rPr b="0" i="0" lang="en" sz="1100" u="none" cap="none" strike="noStrike">
                <a:solidFill>
                  <a:srgbClr val="4A5568"/>
                </a:solidFill>
                <a:latin typeface="Public Sans"/>
                <a:ea typeface="Public Sans"/>
                <a:cs typeface="Public Sans"/>
                <a:sym typeface="Public Sans"/>
              </a:rPr>
              <a:t>Man City 2013-14: 102 goals from 76 xG.</a:t>
            </a:r>
            <a:endParaRPr b="0" i="0" sz="1100" u="none" cap="none" strike="noStrike">
              <a:solidFill>
                <a:schemeClr val="dk1"/>
              </a:solidFill>
              <a:latin typeface="Public Sans"/>
              <a:ea typeface="Public Sans"/>
              <a:cs typeface="Public Sans"/>
              <a:sym typeface="Public Sans"/>
            </a:endParaRPr>
          </a:p>
        </p:txBody>
      </p:sp>
      <p:sp>
        <p:nvSpPr>
          <p:cNvPr id="158" name="Google Shape;158;p21"/>
          <p:cNvSpPr/>
          <p:nvPr/>
        </p:nvSpPr>
        <p:spPr>
          <a:xfrm>
            <a:off x="609600" y="4678679"/>
            <a:ext cx="1962245"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900"/>
              <a:buFont typeface="Public Sans"/>
              <a:buNone/>
            </a:pPr>
            <a:r>
              <a:rPr b="0" i="0" lang="en" sz="900" u="none" cap="none" strike="noStrike">
                <a:solidFill>
                  <a:srgbClr val="6A7179"/>
                </a:solidFill>
                <a:latin typeface="Public Sans"/>
                <a:ea typeface="Public Sans"/>
                <a:cs typeface="Public Sans"/>
                <a:sym typeface="Public Sans"/>
              </a:rPr>
              <a:t>6 · Bars = bootstrap 95% range</a:t>
            </a:r>
            <a:endParaRPr b="0" i="0" sz="9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63" name="Shape 163"/>
        <p:cNvGrpSpPr/>
        <p:nvPr/>
      </p:nvGrpSpPr>
      <p:grpSpPr>
        <a:xfrm>
          <a:off x="0" y="0"/>
          <a:ext cx="0" cy="0"/>
          <a:chOff x="0" y="0"/>
          <a:chExt cx="0" cy="0"/>
        </a:xfrm>
      </p:grpSpPr>
      <p:sp>
        <p:nvSpPr>
          <p:cNvPr id="164" name="Google Shape;164;p22"/>
          <p:cNvSpPr/>
          <p:nvPr/>
        </p:nvSpPr>
        <p:spPr>
          <a:xfrm>
            <a:off x="609600" y="609600"/>
            <a:ext cx="8162544"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900"/>
              <a:buFont typeface="Public Sans"/>
              <a:buNone/>
            </a:pPr>
            <a:r>
              <a:rPr b="1" i="0" lang="en" sz="900" u="none" cap="none" strike="noStrike">
                <a:solidFill>
                  <a:srgbClr val="9A4F0F"/>
                </a:solidFill>
                <a:latin typeface="Public Sans"/>
                <a:ea typeface="Public Sans"/>
                <a:cs typeface="Public Sans"/>
                <a:sym typeface="Public Sans"/>
              </a:rPr>
              <a:t>FINDING 3</a:t>
            </a:r>
            <a:endParaRPr b="0" i="0" sz="900" u="none" cap="none" strike="noStrike">
              <a:solidFill>
                <a:schemeClr val="dk1"/>
              </a:solidFill>
              <a:latin typeface="Public Sans"/>
              <a:ea typeface="Public Sans"/>
              <a:cs typeface="Public Sans"/>
              <a:sym typeface="Public Sans"/>
            </a:endParaRPr>
          </a:p>
        </p:txBody>
      </p:sp>
      <p:sp>
        <p:nvSpPr>
          <p:cNvPr id="165" name="Google Shape;165;p22"/>
          <p:cNvSpPr txBox="1"/>
          <p:nvPr>
            <p:ph type="title"/>
          </p:nvPr>
        </p:nvSpPr>
        <p:spPr>
          <a:xfrm>
            <a:off x="609600" y="922021"/>
            <a:ext cx="8162544" cy="3962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2700"/>
              <a:buFont typeface="Oswald"/>
              <a:buNone/>
            </a:pPr>
            <a:r>
              <a:rPr b="1" i="0" lang="en" sz="2700">
                <a:solidFill>
                  <a:srgbClr val="14213D"/>
                </a:solidFill>
                <a:latin typeface="Oswald"/>
                <a:ea typeface="Oswald"/>
                <a:cs typeface="Oswald"/>
                <a:sym typeface="Oswald"/>
              </a:rPr>
              <a:t>Home teams get more chances, not better finishing</a:t>
            </a:r>
            <a:endParaRPr sz="2700"/>
          </a:p>
        </p:txBody>
      </p:sp>
      <p:sp>
        <p:nvSpPr>
          <p:cNvPr id="166" name="Google Shape;166;p22"/>
          <p:cNvSpPr/>
          <p:nvPr/>
        </p:nvSpPr>
        <p:spPr>
          <a:xfrm>
            <a:off x="609600" y="1702117"/>
            <a:ext cx="3429000" cy="2428875"/>
          </a:xfrm>
          <a:prstGeom prst="roundRect">
            <a:avLst>
              <a:gd fmla="val 2353"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Bar chart: home teams 1.53 xG and 1.55 goals per match; away teams 1.27 xG and 1.25 goals" id="167" name="Google Shape;167;p22"/>
          <p:cNvPicPr preferRelativeResize="0"/>
          <p:nvPr/>
        </p:nvPicPr>
        <p:blipFill rotWithShape="1">
          <a:blip r:embed="rId3">
            <a:alphaModFix/>
          </a:blip>
          <a:srcRect b="-195" l="0" r="0" t="-195"/>
          <a:stretch/>
        </p:blipFill>
        <p:spPr>
          <a:xfrm>
            <a:off x="609600" y="1702117"/>
            <a:ext cx="3429000" cy="2428875"/>
          </a:xfrm>
          <a:prstGeom prst="roundRect">
            <a:avLst>
              <a:gd fmla="val 2353" name="adj"/>
            </a:avLst>
          </a:prstGeom>
          <a:noFill/>
          <a:ln>
            <a:noFill/>
          </a:ln>
        </p:spPr>
      </p:pic>
      <p:sp>
        <p:nvSpPr>
          <p:cNvPr id="168" name="Google Shape;168;p22"/>
          <p:cNvSpPr/>
          <p:nvPr/>
        </p:nvSpPr>
        <p:spPr>
          <a:xfrm>
            <a:off x="4343400" y="2251712"/>
            <a:ext cx="4316730"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4500"/>
              <a:buFont typeface="Oswald"/>
              <a:buNone/>
            </a:pPr>
            <a:r>
              <a:rPr b="1" i="0" lang="en" sz="4500" u="none" cap="none" strike="noStrike">
                <a:solidFill>
                  <a:srgbClr val="14213D"/>
                </a:solidFill>
                <a:latin typeface="Oswald"/>
                <a:ea typeface="Oswald"/>
                <a:cs typeface="Oswald"/>
                <a:sym typeface="Oswald"/>
              </a:rPr>
              <a:t>+0.26 xG</a:t>
            </a:r>
            <a:endParaRPr b="0" i="0" sz="4500" u="none" cap="none" strike="noStrike">
              <a:solidFill>
                <a:schemeClr val="dk1"/>
              </a:solidFill>
              <a:latin typeface="Public Sans"/>
              <a:ea typeface="Public Sans"/>
              <a:cs typeface="Public Sans"/>
              <a:sym typeface="Public Sans"/>
            </a:endParaRPr>
          </a:p>
        </p:txBody>
      </p:sp>
      <p:sp>
        <p:nvSpPr>
          <p:cNvPr id="169" name="Google Shape;169;p22"/>
          <p:cNvSpPr/>
          <p:nvPr/>
        </p:nvSpPr>
        <p:spPr>
          <a:xfrm>
            <a:off x="4343400" y="2937512"/>
            <a:ext cx="4316730" cy="23241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Public Sans"/>
              <a:buNone/>
            </a:pPr>
            <a:r>
              <a:rPr b="0" i="0" lang="en" sz="1200" u="none" cap="none" strike="noStrike">
                <a:solidFill>
                  <a:srgbClr val="4A5568"/>
                </a:solidFill>
                <a:latin typeface="Public Sans"/>
                <a:ea typeface="Public Sans"/>
                <a:cs typeface="Public Sans"/>
                <a:sym typeface="Public Sans"/>
              </a:rPr>
              <a:t>per match for home teams (p &lt; 0.001).</a:t>
            </a:r>
            <a:endParaRPr b="0" i="0" sz="1200" u="none" cap="none" strike="noStrike">
              <a:solidFill>
                <a:schemeClr val="dk1"/>
              </a:solidFill>
              <a:latin typeface="Public Sans"/>
              <a:ea typeface="Public Sans"/>
              <a:cs typeface="Public Sans"/>
              <a:sym typeface="Public Sans"/>
            </a:endParaRPr>
          </a:p>
        </p:txBody>
      </p:sp>
      <p:sp>
        <p:nvSpPr>
          <p:cNvPr id="170" name="Google Shape;170;p22"/>
          <p:cNvSpPr/>
          <p:nvPr/>
        </p:nvSpPr>
        <p:spPr>
          <a:xfrm>
            <a:off x="4343400" y="3208021"/>
            <a:ext cx="4316730" cy="392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100"/>
              <a:buFont typeface="Public Sans"/>
              <a:buNone/>
            </a:pPr>
            <a:r>
              <a:rPr b="0" i="0" lang="en" sz="1100" u="none" cap="none" strike="noStrike">
                <a:solidFill>
                  <a:srgbClr val="4A5568"/>
                </a:solidFill>
                <a:latin typeface="Public Sans"/>
                <a:ea typeface="Public Sans"/>
                <a:cs typeface="Public Sans"/>
                <a:sym typeface="Public Sans"/>
              </a:rPr>
              <a:t>But they score about what their xG says (p = 0.22). They just get more and better shots.</a:t>
            </a:r>
            <a:endParaRPr b="0" i="0" sz="1100" u="none" cap="none" strike="noStrike">
              <a:solidFill>
                <a:schemeClr val="dk1"/>
              </a:solidFill>
              <a:latin typeface="Public Sans"/>
              <a:ea typeface="Public Sans"/>
              <a:cs typeface="Public Sans"/>
              <a:sym typeface="Public Sans"/>
            </a:endParaRPr>
          </a:p>
        </p:txBody>
      </p:sp>
      <p:sp>
        <p:nvSpPr>
          <p:cNvPr id="171" name="Google Shape;171;p22"/>
          <p:cNvSpPr/>
          <p:nvPr/>
        </p:nvSpPr>
        <p:spPr>
          <a:xfrm>
            <a:off x="609600" y="4678679"/>
            <a:ext cx="1428393"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900"/>
              <a:buFont typeface="Public Sans"/>
              <a:buNone/>
            </a:pPr>
            <a:r>
              <a:rPr b="0" i="0" lang="en" sz="900" u="none" cap="none" strike="noStrike">
                <a:solidFill>
                  <a:srgbClr val="6A7179"/>
                </a:solidFill>
                <a:latin typeface="Public Sans"/>
                <a:ea typeface="Public Sans"/>
                <a:cs typeface="Public Sans"/>
                <a:sym typeface="Public Sans"/>
              </a:rPr>
              <a:t>7 · Per team per match</a:t>
            </a:r>
            <a:endParaRPr b="0" i="0" sz="9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6F4EE"/>
        </a:solidFill>
      </p:bgPr>
    </p:bg>
    <p:spTree>
      <p:nvGrpSpPr>
        <p:cNvPr id="176" name="Shape 176"/>
        <p:cNvGrpSpPr/>
        <p:nvPr/>
      </p:nvGrpSpPr>
      <p:grpSpPr>
        <a:xfrm>
          <a:off x="0" y="0"/>
          <a:ext cx="0" cy="0"/>
          <a:chOff x="0" y="0"/>
          <a:chExt cx="0" cy="0"/>
        </a:xfrm>
      </p:grpSpPr>
      <p:sp>
        <p:nvSpPr>
          <p:cNvPr id="177" name="Google Shape;177;p23"/>
          <p:cNvSpPr/>
          <p:nvPr/>
        </p:nvSpPr>
        <p:spPr>
          <a:xfrm>
            <a:off x="609600" y="609600"/>
            <a:ext cx="8162544"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9A4F0F"/>
              </a:buClr>
              <a:buSzPts val="900"/>
              <a:buFont typeface="Public Sans"/>
              <a:buNone/>
            </a:pPr>
            <a:r>
              <a:rPr b="1" i="0" lang="en" sz="900" u="none" cap="none" strike="noStrike">
                <a:solidFill>
                  <a:srgbClr val="9A4F0F"/>
                </a:solidFill>
                <a:latin typeface="Public Sans"/>
                <a:ea typeface="Public Sans"/>
                <a:cs typeface="Public Sans"/>
                <a:sym typeface="Public Sans"/>
              </a:rPr>
              <a:t>FINDING 4</a:t>
            </a:r>
            <a:endParaRPr b="0" i="0" sz="900" u="none" cap="none" strike="noStrike">
              <a:solidFill>
                <a:schemeClr val="dk1"/>
              </a:solidFill>
              <a:latin typeface="Public Sans"/>
              <a:ea typeface="Public Sans"/>
              <a:cs typeface="Public Sans"/>
              <a:sym typeface="Public Sans"/>
            </a:endParaRPr>
          </a:p>
        </p:txBody>
      </p:sp>
      <p:sp>
        <p:nvSpPr>
          <p:cNvPr id="178" name="Google Shape;178;p23"/>
          <p:cNvSpPr txBox="1"/>
          <p:nvPr>
            <p:ph type="title"/>
          </p:nvPr>
        </p:nvSpPr>
        <p:spPr>
          <a:xfrm>
            <a:off x="609600" y="922021"/>
            <a:ext cx="8162544" cy="39624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14213D"/>
              </a:buClr>
              <a:buSzPts val="2700"/>
              <a:buFont typeface="Oswald"/>
              <a:buNone/>
            </a:pPr>
            <a:r>
              <a:rPr b="1" i="0" lang="en" sz="2700">
                <a:solidFill>
                  <a:srgbClr val="14213D"/>
                </a:solidFill>
                <a:latin typeface="Oswald"/>
                <a:ea typeface="Oswald"/>
                <a:cs typeface="Oswald"/>
                <a:sym typeface="Oswald"/>
              </a:rPr>
              <a:t>Beating xG only partly repeats</a:t>
            </a:r>
            <a:endParaRPr sz="2700"/>
          </a:p>
        </p:txBody>
      </p:sp>
      <p:sp>
        <p:nvSpPr>
          <p:cNvPr id="179" name="Google Shape;179;p23"/>
          <p:cNvSpPr/>
          <p:nvPr/>
        </p:nvSpPr>
        <p:spPr>
          <a:xfrm>
            <a:off x="609600" y="1630679"/>
            <a:ext cx="2952750" cy="2571750"/>
          </a:xfrm>
          <a:prstGeom prst="roundRect">
            <a:avLst>
              <a:gd fmla="val 2222" name="adj"/>
            </a:avLst>
          </a:prstGeom>
          <a:solidFill>
            <a:srgbClr val="FFFF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Scatter: goals minus xG this season vs next season, r = 0.33" id="180" name="Google Shape;180;p23"/>
          <p:cNvPicPr preferRelativeResize="0"/>
          <p:nvPr/>
        </p:nvPicPr>
        <p:blipFill rotWithShape="1">
          <a:blip r:embed="rId3">
            <a:alphaModFix/>
          </a:blip>
          <a:srcRect b="0" l="0" r="0" t="0"/>
          <a:stretch/>
        </p:blipFill>
        <p:spPr>
          <a:xfrm>
            <a:off x="609600" y="1644026"/>
            <a:ext cx="2952750" cy="2545057"/>
          </a:xfrm>
          <a:custGeom>
            <a:rect b="b" l="l" r="r" t="t"/>
            <a:pathLst>
              <a:path extrusionOk="0" h="3393409" w="3937000">
                <a:moveTo>
                  <a:pt x="0" y="58404"/>
                </a:moveTo>
                <a:cubicBezTo>
                  <a:pt x="0" y="35863"/>
                  <a:pt x="9980" y="14478"/>
                  <a:pt x="27257" y="0"/>
                </a:cubicBezTo>
                <a:lnTo>
                  <a:pt x="3909743" y="0"/>
                </a:lnTo>
                <a:cubicBezTo>
                  <a:pt x="3927020" y="14478"/>
                  <a:pt x="3937000" y="35863"/>
                  <a:pt x="3937000" y="58404"/>
                </a:cubicBezTo>
                <a:lnTo>
                  <a:pt x="3937000" y="3335004"/>
                </a:lnTo>
                <a:cubicBezTo>
                  <a:pt x="3937000" y="3357545"/>
                  <a:pt x="3927020" y="3378930"/>
                  <a:pt x="3909743" y="3393408"/>
                </a:cubicBezTo>
                <a:lnTo>
                  <a:pt x="27257" y="3393409"/>
                </a:lnTo>
                <a:cubicBezTo>
                  <a:pt x="9980" y="3378931"/>
                  <a:pt x="0" y="3357546"/>
                  <a:pt x="0" y="3335005"/>
                </a:cubicBezTo>
                <a:close/>
              </a:path>
            </a:pathLst>
          </a:custGeom>
          <a:noFill/>
          <a:ln>
            <a:noFill/>
          </a:ln>
        </p:spPr>
      </p:pic>
      <p:sp>
        <p:nvSpPr>
          <p:cNvPr id="181" name="Google Shape;181;p23"/>
          <p:cNvSpPr/>
          <p:nvPr/>
        </p:nvSpPr>
        <p:spPr>
          <a:xfrm>
            <a:off x="3867150" y="2238375"/>
            <a:ext cx="4807268" cy="6477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14213D"/>
              </a:buClr>
              <a:buSzPts val="4500"/>
              <a:buFont typeface="Oswald"/>
              <a:buNone/>
            </a:pPr>
            <a:r>
              <a:rPr b="1" i="0" lang="en" sz="4500" u="none" cap="none" strike="noStrike">
                <a:solidFill>
                  <a:srgbClr val="14213D"/>
                </a:solidFill>
                <a:latin typeface="Oswald"/>
                <a:ea typeface="Oswald"/>
                <a:cs typeface="Oswald"/>
                <a:sym typeface="Oswald"/>
              </a:rPr>
              <a:t>About 1/3</a:t>
            </a:r>
            <a:endParaRPr b="0" i="0" sz="4500" u="none" cap="none" strike="noStrike">
              <a:solidFill>
                <a:schemeClr val="dk1"/>
              </a:solidFill>
              <a:latin typeface="Public Sans"/>
              <a:ea typeface="Public Sans"/>
              <a:cs typeface="Public Sans"/>
              <a:sym typeface="Public Sans"/>
            </a:endParaRPr>
          </a:p>
        </p:txBody>
      </p:sp>
      <p:sp>
        <p:nvSpPr>
          <p:cNvPr id="182" name="Google Shape;182;p23"/>
          <p:cNvSpPr/>
          <p:nvPr/>
        </p:nvSpPr>
        <p:spPr>
          <a:xfrm>
            <a:off x="3867150" y="2924175"/>
            <a:ext cx="4807268" cy="4457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200"/>
              <a:buFont typeface="Public Sans"/>
              <a:buNone/>
            </a:pPr>
            <a:r>
              <a:rPr b="0" i="0" lang="en" sz="1200" u="none" cap="none" strike="noStrike">
                <a:solidFill>
                  <a:srgbClr val="4A5568"/>
                </a:solidFill>
                <a:latin typeface="Public Sans"/>
                <a:ea typeface="Public Sans"/>
                <a:cs typeface="Public Sans"/>
                <a:sym typeface="Public Sans"/>
              </a:rPr>
              <a:t>of a team's over-performance carries into next season (r = 0.33). The rest goes away.</a:t>
            </a:r>
            <a:endParaRPr b="0" i="0" sz="1200" u="none" cap="none" strike="noStrike">
              <a:solidFill>
                <a:schemeClr val="dk1"/>
              </a:solidFill>
              <a:latin typeface="Public Sans"/>
              <a:ea typeface="Public Sans"/>
              <a:cs typeface="Public Sans"/>
              <a:sym typeface="Public Sans"/>
            </a:endParaRPr>
          </a:p>
        </p:txBody>
      </p:sp>
      <p:sp>
        <p:nvSpPr>
          <p:cNvPr id="183" name="Google Shape;183;p23"/>
          <p:cNvSpPr/>
          <p:nvPr/>
        </p:nvSpPr>
        <p:spPr>
          <a:xfrm>
            <a:off x="3867150" y="3408048"/>
            <a:ext cx="4807268" cy="2057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4A5568"/>
              </a:buClr>
              <a:buSzPts val="1100"/>
              <a:buFont typeface="Public Sans"/>
              <a:buNone/>
            </a:pPr>
            <a:r>
              <a:rPr b="0" i="0" lang="en" sz="1100" u="none" cap="none" strike="noStrike">
                <a:solidFill>
                  <a:srgbClr val="4A5568"/>
                </a:solidFill>
                <a:latin typeface="Public Sans"/>
                <a:ea typeface="Public Sans"/>
                <a:cs typeface="Public Sans"/>
                <a:sym typeface="Public Sans"/>
              </a:rPr>
              <a:t>It shows up in home games, not away games.</a:t>
            </a:r>
            <a:endParaRPr b="0" i="0" sz="1100" u="none" cap="none" strike="noStrike">
              <a:solidFill>
                <a:schemeClr val="dk1"/>
              </a:solidFill>
              <a:latin typeface="Public Sans"/>
              <a:ea typeface="Public Sans"/>
              <a:cs typeface="Public Sans"/>
              <a:sym typeface="Public Sans"/>
            </a:endParaRPr>
          </a:p>
        </p:txBody>
      </p:sp>
      <p:sp>
        <p:nvSpPr>
          <p:cNvPr id="184" name="Google Shape;184;p23"/>
          <p:cNvSpPr/>
          <p:nvPr/>
        </p:nvSpPr>
        <p:spPr>
          <a:xfrm>
            <a:off x="609600" y="4678682"/>
            <a:ext cx="2238280"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6A7179"/>
              </a:buClr>
              <a:buSzPts val="900"/>
              <a:buFont typeface="Public Sans"/>
              <a:buNone/>
            </a:pPr>
            <a:r>
              <a:rPr b="0" i="0" lang="en" sz="900" u="none" cap="none" strike="noStrike">
                <a:solidFill>
                  <a:srgbClr val="6A7179"/>
                </a:solidFill>
                <a:latin typeface="Public Sans"/>
                <a:ea typeface="Public Sans"/>
                <a:cs typeface="Public Sans"/>
                <a:sym typeface="Public Sans"/>
              </a:rPr>
              <a:t>8 · 204 back-to-back team-seasons</a:t>
            </a:r>
            <a:endParaRPr b="0" i="0" sz="900" u="none" cap="none" strike="noStrike">
              <a:solidFill>
                <a:schemeClr val="dk1"/>
              </a:solidFill>
              <a:latin typeface="Public Sans"/>
              <a:ea typeface="Public Sans"/>
              <a:cs typeface="Public Sans"/>
              <a:sym typeface="Public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4213D"/>
        </a:solidFill>
      </p:bgPr>
    </p:bg>
    <p:spTree>
      <p:nvGrpSpPr>
        <p:cNvPr id="189" name="Shape 189"/>
        <p:cNvGrpSpPr/>
        <p:nvPr/>
      </p:nvGrpSpPr>
      <p:grpSpPr>
        <a:xfrm>
          <a:off x="0" y="0"/>
          <a:ext cx="0" cy="0"/>
          <a:chOff x="0" y="0"/>
          <a:chExt cx="0" cy="0"/>
        </a:xfrm>
      </p:grpSpPr>
      <p:sp>
        <p:nvSpPr>
          <p:cNvPr id="190" name="Google Shape;190;p24"/>
          <p:cNvSpPr/>
          <p:nvPr/>
        </p:nvSpPr>
        <p:spPr>
          <a:xfrm>
            <a:off x="609600" y="609600"/>
            <a:ext cx="8162544" cy="17907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A33D"/>
              </a:buClr>
              <a:buSzPts val="900"/>
              <a:buFont typeface="Public Sans"/>
              <a:buNone/>
            </a:pPr>
            <a:r>
              <a:rPr b="1" i="0" lang="en" sz="900" u="none" cap="none" strike="noStrike">
                <a:solidFill>
                  <a:srgbClr val="E8A33D"/>
                </a:solidFill>
                <a:latin typeface="Public Sans"/>
                <a:ea typeface="Public Sans"/>
                <a:cs typeface="Public Sans"/>
                <a:sym typeface="Public Sans"/>
              </a:rPr>
              <a:t>THE TAKEAWAY</a:t>
            </a:r>
            <a:endParaRPr b="0" i="0" sz="900" u="none" cap="none" strike="noStrike">
              <a:solidFill>
                <a:schemeClr val="dk1"/>
              </a:solidFill>
              <a:latin typeface="Public Sans"/>
              <a:ea typeface="Public Sans"/>
              <a:cs typeface="Public Sans"/>
              <a:sym typeface="Public Sans"/>
            </a:endParaRPr>
          </a:p>
        </p:txBody>
      </p:sp>
      <p:sp>
        <p:nvSpPr>
          <p:cNvPr id="191" name="Google Shape;191;p24"/>
          <p:cNvSpPr txBox="1"/>
          <p:nvPr>
            <p:ph type="title"/>
          </p:nvPr>
        </p:nvSpPr>
        <p:spPr>
          <a:xfrm>
            <a:off x="609600" y="998223"/>
            <a:ext cx="7358062" cy="1024890"/>
          </a:xfrm>
          <a:prstGeom prst="rect">
            <a:avLst/>
          </a:prstGeom>
          <a:noFill/>
          <a:ln>
            <a:noFill/>
          </a:ln>
        </p:spPr>
        <p:txBody>
          <a:bodyPr anchorCtr="0" anchor="t" bIns="0" lIns="0" spcFirstLastPara="1" rIns="0" wrap="square" tIns="0">
            <a:normAutofit/>
          </a:bodyPr>
          <a:lstStyle/>
          <a:p>
            <a:pPr indent="0" lvl="0" marL="0" rtl="0" algn="l">
              <a:lnSpc>
                <a:spcPct val="110000"/>
              </a:lnSpc>
              <a:spcBef>
                <a:spcPts val="0"/>
              </a:spcBef>
              <a:spcAft>
                <a:spcPts val="0"/>
              </a:spcAft>
              <a:buClr>
                <a:srgbClr val="F6F4EE"/>
              </a:buClr>
              <a:buSzPts val="3600"/>
              <a:buFont typeface="Oswald"/>
              <a:buNone/>
            </a:pPr>
            <a:r>
              <a:rPr b="1" i="0" lang="en" sz="3600">
                <a:solidFill>
                  <a:srgbClr val="F6F4EE"/>
                </a:solidFill>
                <a:latin typeface="Oswald"/>
                <a:ea typeface="Oswald"/>
                <a:cs typeface="Oswald"/>
                <a:sym typeface="Oswald"/>
              </a:rPr>
              <a:t>Judge teams by their chances, not one hot year.</a:t>
            </a:r>
            <a:endParaRPr sz="3600"/>
          </a:p>
        </p:txBody>
      </p:sp>
      <p:cxnSp>
        <p:nvCxnSpPr>
          <p:cNvPr id="192" name="Google Shape;192;p24"/>
          <p:cNvCxnSpPr/>
          <p:nvPr/>
        </p:nvCxnSpPr>
        <p:spPr>
          <a:xfrm>
            <a:off x="609600" y="2242184"/>
            <a:ext cx="2539961" cy="0"/>
          </a:xfrm>
          <a:prstGeom prst="straightConnector1">
            <a:avLst/>
          </a:prstGeom>
          <a:noFill/>
          <a:ln cap="flat" cmpd="sng" w="25400">
            <a:solidFill>
              <a:srgbClr val="E8A33D"/>
            </a:solidFill>
            <a:prstDash val="solid"/>
            <a:round/>
            <a:headEnd len="sm" w="sm" type="none"/>
            <a:tailEnd len="sm" w="sm" type="none"/>
          </a:ln>
        </p:spPr>
      </p:cxnSp>
      <p:sp>
        <p:nvSpPr>
          <p:cNvPr id="193" name="Google Shape;193;p24"/>
          <p:cNvSpPr/>
          <p:nvPr/>
        </p:nvSpPr>
        <p:spPr>
          <a:xfrm>
            <a:off x="609600" y="2366009"/>
            <a:ext cx="2616159"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E"/>
              </a:buClr>
              <a:buSzPts val="1200"/>
              <a:buFont typeface="Public Sans"/>
              <a:buNone/>
            </a:pPr>
            <a:r>
              <a:rPr b="1" i="0" lang="en" sz="1200" u="none" cap="none" strike="noStrike">
                <a:solidFill>
                  <a:srgbClr val="F6F4EE"/>
                </a:solidFill>
                <a:latin typeface="Public Sans"/>
                <a:ea typeface="Public Sans"/>
                <a:cs typeface="Public Sans"/>
                <a:sym typeface="Public Sans"/>
              </a:rPr>
              <a:t>Over-performed?</a:t>
            </a:r>
            <a:endParaRPr b="0" i="0" sz="1200" u="none" cap="none" strike="noStrike">
              <a:solidFill>
                <a:schemeClr val="dk1"/>
              </a:solidFill>
              <a:latin typeface="Public Sans"/>
              <a:ea typeface="Public Sans"/>
              <a:cs typeface="Public Sans"/>
              <a:sym typeface="Public Sans"/>
            </a:endParaRPr>
          </a:p>
        </p:txBody>
      </p:sp>
      <p:sp>
        <p:nvSpPr>
          <p:cNvPr id="194" name="Google Shape;194;p24"/>
          <p:cNvSpPr/>
          <p:nvPr/>
        </p:nvSpPr>
        <p:spPr>
          <a:xfrm>
            <a:off x="609600" y="2606041"/>
            <a:ext cx="2616159" cy="392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3E3"/>
              </a:buClr>
              <a:buSzPts val="1100"/>
              <a:buFont typeface="Public Sans"/>
              <a:buNone/>
            </a:pPr>
            <a:r>
              <a:rPr b="0" i="0" lang="en" sz="1100" u="none" cap="none" strike="noStrike">
                <a:solidFill>
                  <a:srgbClr val="C9D3E3"/>
                </a:solidFill>
                <a:latin typeface="Public Sans"/>
                <a:ea typeface="Public Sans"/>
                <a:cs typeface="Public Sans"/>
                <a:sym typeface="Public Sans"/>
              </a:rPr>
              <a:t>Expect about two thirds of the gap to vanish next season.</a:t>
            </a:r>
            <a:endParaRPr b="0" i="0" sz="1100" u="none" cap="none" strike="noStrike">
              <a:solidFill>
                <a:schemeClr val="dk1"/>
              </a:solidFill>
              <a:latin typeface="Public Sans"/>
              <a:ea typeface="Public Sans"/>
              <a:cs typeface="Public Sans"/>
              <a:sym typeface="Public Sans"/>
            </a:endParaRPr>
          </a:p>
        </p:txBody>
      </p:sp>
      <p:cxnSp>
        <p:nvCxnSpPr>
          <p:cNvPr id="195" name="Google Shape;195;p24"/>
          <p:cNvCxnSpPr/>
          <p:nvPr/>
        </p:nvCxnSpPr>
        <p:spPr>
          <a:xfrm>
            <a:off x="3301960" y="2242184"/>
            <a:ext cx="2540020" cy="0"/>
          </a:xfrm>
          <a:prstGeom prst="straightConnector1">
            <a:avLst/>
          </a:prstGeom>
          <a:noFill/>
          <a:ln cap="flat" cmpd="sng" w="25400">
            <a:solidFill>
              <a:srgbClr val="E8A33D"/>
            </a:solidFill>
            <a:prstDash val="solid"/>
            <a:round/>
            <a:headEnd len="sm" w="sm" type="none"/>
            <a:tailEnd len="sm" w="sm" type="none"/>
          </a:ln>
        </p:spPr>
      </p:cxnSp>
      <p:sp>
        <p:nvSpPr>
          <p:cNvPr id="196" name="Google Shape;196;p24"/>
          <p:cNvSpPr/>
          <p:nvPr/>
        </p:nvSpPr>
        <p:spPr>
          <a:xfrm>
            <a:off x="3301960" y="2366009"/>
            <a:ext cx="2616221"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E"/>
              </a:buClr>
              <a:buSzPts val="1200"/>
              <a:buFont typeface="Public Sans"/>
              <a:buNone/>
            </a:pPr>
            <a:r>
              <a:rPr b="1" i="0" lang="en" sz="1200" u="none" cap="none" strike="noStrike">
                <a:solidFill>
                  <a:srgbClr val="F6F4EE"/>
                </a:solidFill>
                <a:latin typeface="Public Sans"/>
                <a:ea typeface="Public Sans"/>
                <a:cs typeface="Public Sans"/>
                <a:sym typeface="Public Sans"/>
              </a:rPr>
              <a:t>Under-performed?</a:t>
            </a:r>
            <a:endParaRPr b="0" i="0" sz="1200" u="none" cap="none" strike="noStrike">
              <a:solidFill>
                <a:schemeClr val="dk1"/>
              </a:solidFill>
              <a:latin typeface="Public Sans"/>
              <a:ea typeface="Public Sans"/>
              <a:cs typeface="Public Sans"/>
              <a:sym typeface="Public Sans"/>
            </a:endParaRPr>
          </a:p>
        </p:txBody>
      </p:sp>
      <p:sp>
        <p:nvSpPr>
          <p:cNvPr id="197" name="Google Shape;197;p24"/>
          <p:cNvSpPr/>
          <p:nvPr/>
        </p:nvSpPr>
        <p:spPr>
          <a:xfrm>
            <a:off x="3301960" y="2606041"/>
            <a:ext cx="2616221" cy="20574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3E3"/>
              </a:buClr>
              <a:buSzPts val="1100"/>
              <a:buFont typeface="Public Sans"/>
              <a:buNone/>
            </a:pPr>
            <a:r>
              <a:rPr b="0" i="0" lang="en" sz="1100" u="none" cap="none" strike="noStrike">
                <a:solidFill>
                  <a:srgbClr val="C9D3E3"/>
                </a:solidFill>
                <a:latin typeface="Public Sans"/>
                <a:ea typeface="Public Sans"/>
                <a:cs typeface="Public Sans"/>
                <a:sym typeface="Public Sans"/>
              </a:rPr>
              <a:t>Expect a bounce back.</a:t>
            </a:r>
            <a:endParaRPr b="0" i="0" sz="1100" u="none" cap="none" strike="noStrike">
              <a:solidFill>
                <a:schemeClr val="dk1"/>
              </a:solidFill>
              <a:latin typeface="Public Sans"/>
              <a:ea typeface="Public Sans"/>
              <a:cs typeface="Public Sans"/>
              <a:sym typeface="Public Sans"/>
            </a:endParaRPr>
          </a:p>
        </p:txBody>
      </p:sp>
      <p:cxnSp>
        <p:nvCxnSpPr>
          <p:cNvPr id="198" name="Google Shape;198;p24"/>
          <p:cNvCxnSpPr/>
          <p:nvPr/>
        </p:nvCxnSpPr>
        <p:spPr>
          <a:xfrm>
            <a:off x="5994380" y="2242184"/>
            <a:ext cx="2540020" cy="0"/>
          </a:xfrm>
          <a:prstGeom prst="straightConnector1">
            <a:avLst/>
          </a:prstGeom>
          <a:noFill/>
          <a:ln cap="flat" cmpd="sng" w="25400">
            <a:solidFill>
              <a:srgbClr val="E8A33D"/>
            </a:solidFill>
            <a:prstDash val="solid"/>
            <a:round/>
            <a:headEnd len="sm" w="sm" type="none"/>
            <a:tailEnd len="sm" w="sm" type="none"/>
          </a:ln>
        </p:spPr>
      </p:cxnSp>
      <p:sp>
        <p:nvSpPr>
          <p:cNvPr id="199" name="Google Shape;199;p24"/>
          <p:cNvSpPr/>
          <p:nvPr/>
        </p:nvSpPr>
        <p:spPr>
          <a:xfrm>
            <a:off x="5994380" y="2366009"/>
            <a:ext cx="2616221" cy="20193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F6F4EE"/>
              </a:buClr>
              <a:buSzPts val="1200"/>
              <a:buFont typeface="Public Sans"/>
              <a:buNone/>
            </a:pPr>
            <a:r>
              <a:rPr b="1" i="0" lang="en" sz="1200" u="none" cap="none" strike="noStrike">
                <a:solidFill>
                  <a:srgbClr val="F6F4EE"/>
                </a:solidFill>
                <a:latin typeface="Public Sans"/>
                <a:ea typeface="Public Sans"/>
                <a:cs typeface="Public Sans"/>
                <a:sym typeface="Public Sans"/>
              </a:rPr>
              <a:t>Limits</a:t>
            </a:r>
            <a:endParaRPr b="0" i="0" sz="1200" u="none" cap="none" strike="noStrike">
              <a:solidFill>
                <a:schemeClr val="dk1"/>
              </a:solidFill>
              <a:latin typeface="Public Sans"/>
              <a:ea typeface="Public Sans"/>
              <a:cs typeface="Public Sans"/>
              <a:sym typeface="Public Sans"/>
            </a:endParaRPr>
          </a:p>
        </p:txBody>
      </p:sp>
      <p:sp>
        <p:nvSpPr>
          <p:cNvPr id="200" name="Google Shape;200;p24"/>
          <p:cNvSpPr/>
          <p:nvPr/>
        </p:nvSpPr>
        <p:spPr>
          <a:xfrm>
            <a:off x="5994380" y="2606041"/>
            <a:ext cx="2616221" cy="39243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9D3E3"/>
              </a:buClr>
              <a:buSzPts val="1100"/>
              <a:buFont typeface="Public Sans"/>
              <a:buNone/>
            </a:pPr>
            <a:r>
              <a:rPr b="0" i="0" lang="en" sz="1100" u="none" cap="none" strike="noStrike">
                <a:solidFill>
                  <a:srgbClr val="C9D3E3"/>
                </a:solidFill>
                <a:latin typeface="Public Sans"/>
                <a:ea typeface="Public Sans"/>
                <a:cs typeface="Public Sans"/>
                <a:sym typeface="Public Sans"/>
              </a:rPr>
              <a:t>Our xG is a shots-on-target estimate, not real xG.</a:t>
            </a:r>
            <a:endParaRPr b="0" i="0" sz="1100" u="none" cap="none" strike="noStrike">
              <a:solidFill>
                <a:schemeClr val="dk1"/>
              </a:solidFill>
              <a:latin typeface="Public Sans"/>
              <a:ea typeface="Public Sans"/>
              <a:cs typeface="Public Sans"/>
              <a:sym typeface="Public Sans"/>
            </a:endParaRPr>
          </a:p>
        </p:txBody>
      </p:sp>
      <p:sp>
        <p:nvSpPr>
          <p:cNvPr id="201" name="Google Shape;201;p24"/>
          <p:cNvSpPr/>
          <p:nvPr/>
        </p:nvSpPr>
        <p:spPr>
          <a:xfrm>
            <a:off x="609600" y="4240532"/>
            <a:ext cx="8162544" cy="31242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E8A33D"/>
              </a:buClr>
              <a:buSzPts val="1700"/>
              <a:buFont typeface="Oswald"/>
              <a:buNone/>
            </a:pPr>
            <a:r>
              <a:rPr b="0" i="0" lang="en" sz="1700" u="none" cap="none" strike="noStrike">
                <a:solidFill>
                  <a:srgbClr val="E8A33D"/>
                </a:solidFill>
                <a:latin typeface="Oswald"/>
                <a:ea typeface="Oswald"/>
                <a:cs typeface="Oswald"/>
                <a:sym typeface="Oswald"/>
              </a:rPr>
              <a:t>Questions?</a:t>
            </a:r>
            <a:endParaRPr b="0" i="0" sz="1700" u="none" cap="none" strike="noStrike">
              <a:solidFill>
                <a:schemeClr val="dk1"/>
              </a:solidFill>
              <a:latin typeface="Public Sans"/>
              <a:ea typeface="Public Sans"/>
              <a:cs typeface="Public Sans"/>
              <a:sym typeface="Public Sans"/>
            </a:endParaRPr>
          </a:p>
        </p:txBody>
      </p:sp>
    </p:spTree>
  </p:cSld>
  <p:clrMapOvr>
    <a:masterClrMapping/>
  </p:clrMapOvr>
</p:sld>
</file>

<file path=ppt/theme/theme1.xml><?xml version="1.0" encoding="utf-8"?>
<a:theme xmlns:a="http://schemas.openxmlformats.org/drawingml/2006/main" xmlns:r="http://schemas.openxmlformats.org/officeDocument/2006/relationships" name="Luck or Skill? EPL Presentation">
  <a:themeElements>
    <a:clrScheme name="Luck or Skill? EPL Presentation">
      <a:dk1>
        <a:srgbClr val="14213D"/>
      </a:dk1>
      <a:lt1>
        <a:srgbClr val="F6F4EE"/>
      </a:lt1>
      <a:dk2>
        <a:srgbClr val="4D5669"/>
      </a:dk2>
      <a:lt2>
        <a:srgbClr val="DFDFDC"/>
      </a:lt2>
      <a:accent1>
        <a:srgbClr val="9A4F0F"/>
      </a:accent1>
      <a:accent2>
        <a:srgbClr val="E8A33D"/>
      </a:accent2>
      <a:accent3>
        <a:srgbClr val="4A5568"/>
      </a:accent3>
      <a:accent4>
        <a:srgbClr val="6A7179"/>
      </a:accent4>
      <a:accent5>
        <a:srgbClr val="C9D3E3"/>
      </a:accent5>
      <a:accent6>
        <a:srgbClr val="9AA0A6"/>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